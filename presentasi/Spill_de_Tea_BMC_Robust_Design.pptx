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Deck ini dua bagian: model bisnisnya dulu (BMC), lalu pemetaan robust design untuk sistem produksi dan pickup.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Bacanya dari kanan: segmen dan value proposition dulu, lalu cara menjangkau, lalu yang di belakang layar. Tekankan bahwa deposit pre-order membuat kas masuk sebelum biaya produksi keluar.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robust design: kita tidak melawan noise, tapi mengatur control factor supaya output tetap stabil meski noise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utama sesuai template. Tekankan bahwa signal factor sudah pasti karena pre-order, itu keunggulan sistem kami dibanding booth walk-in.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Penting: sebut bahwa ini target, bukan data hasil pengukuran. Pengukuran nyata baru ada setelah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1371600" cy="1371600"/>
          </a:xfrm>
          <a:prstGeom prst="ellipse">
            <a:avLst/>
          </a:prstGeom>
          <a:solidFill>
            <a:srgbClr val="F6F1E7"/>
          </a:solidFill>
          <a:ln w="15875">
            <a:solidFill>
              <a:srgbClr val="C8A24A"/>
            </a:solidFill>
            <a:prstDash val="solid"/>
          </a:ln>
        </p:spPr>
      </p:sp>
      <p:pic>
        <p:nvPicPr>
          <p:cNvPr id="3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32104"/>
            <a:ext cx="1170432" cy="11704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14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CREATION PROJECT  ·  BINUS UNIVERSITY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8803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Spill de Tea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 ·  Robust Design Identification Factors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batch H-1  ·  Pickup jalur khusus  ·  Pilot 500 botol di Binus Festival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pill-de-tea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2743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40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de Tea — milk tea botolan pre-order untuk event kampus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11480" y="1005840"/>
            <a:ext cx="2185965" cy="3931920"/>
          </a:xfrm>
          <a:prstGeom prst="roundRect">
            <a:avLst>
              <a:gd name="adj" fmla="val 251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496" y="116128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" y="1088136"/>
            <a:ext cx="1783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21208" y="1389888"/>
            <a:ext cx="191164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grosir teh bubuk, susu bubuk &amp; gula aren cair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Pemasok bahan bean curd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botol, label custom &amp; sealer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/ EO Binus Festival &amp; himpunan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Penyedia pembayaran QRIS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Jotform — platform form pre-order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07173" y="1005840"/>
            <a:ext cx="2185965" cy="1911096"/>
          </a:xfrm>
          <a:prstGeom prst="roundRect">
            <a:avLst>
              <a:gd name="adj" fmla="val 2871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5189" y="116128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99781" y="1088136"/>
            <a:ext cx="1783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816901" y="1389888"/>
            <a:ext cx="1911645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pre-order &amp; perencanaan batch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batch H-1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rasa, suhu &amp; kemasan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booth pickup jalur khusus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IG/TikTok &amp; evaluasi tiap event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07173" y="3026664"/>
            <a:ext cx="2185965" cy="1911096"/>
          </a:xfrm>
          <a:prstGeom prst="roundRect">
            <a:avLst>
              <a:gd name="adj" fmla="val 2871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5189" y="3182112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99781" y="3108960"/>
            <a:ext cx="1783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816901" y="3410712"/>
            <a:ext cx="1911645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Resep &amp; SOP batch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produksi &amp; cooler rantai dingin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mahasiswa TI — Service Systems Eng.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emblem, desain cup, website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02865" y="1005840"/>
            <a:ext cx="2185965" cy="3931920"/>
          </a:xfrm>
          <a:prstGeom prst="roundRect">
            <a:avLst>
              <a:gd name="adj" fmla="val 2510"/>
            </a:avLst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30881" y="116128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95473" y="1088136"/>
            <a:ext cx="1783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112593" y="1389888"/>
            <a:ext cx="191164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premium harga mahasiswa: Rp15.000–25.000 vs kompetitor Rp25.000–38.000</a:t>
            </a:r>
            <a:endParaRPr lang="en-US" sz="110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antre — pickup lewat jalur khusus pre-order</a:t>
            </a:r>
            <a:endParaRPr lang="en-US" sz="110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fresh: diproduksi H-1, dijaga dingin sampai pickup</a:t>
            </a:r>
            <a:endParaRPr lang="en-US" sz="110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 aren asli &amp; bean curd sutra</a:t>
            </a:r>
            <a:endParaRPr lang="en-US" sz="110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bercetak penuh yang Instagrammable</a:t>
            </a:r>
            <a:endParaRPr lang="en-US" sz="110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E6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 — produksi sesuai pesanan pasti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98558" y="1005840"/>
            <a:ext cx="2185965" cy="1911096"/>
          </a:xfrm>
          <a:prstGeom prst="roundRect">
            <a:avLst>
              <a:gd name="adj" fmla="val 2871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26574" y="116128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91166" y="1088136"/>
            <a:ext cx="1783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408286" y="1389888"/>
            <a:ext cx="1911645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lewat Instagram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bareng temen: 5 botol hemat Rp5.000, 10 botol gratis 1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personal via WhatsApp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order untuk pickup cepat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98558" y="3026664"/>
            <a:ext cx="2185965" cy="1911096"/>
          </a:xfrm>
          <a:prstGeom prst="roundRect">
            <a:avLst>
              <a:gd name="adj" fmla="val 2871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26574" y="3182112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91166" y="3108960"/>
            <a:ext cx="1783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408286" y="3410712"/>
            <a:ext cx="1911645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form pre-order Jotform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untuk konfirmasi &amp; bayar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pickup di lokasi event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594251" y="1005840"/>
            <a:ext cx="2185965" cy="3931920"/>
          </a:xfrm>
          <a:prstGeom prst="roundRect">
            <a:avLst>
              <a:gd name="adj" fmla="val 2510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22267" y="1161288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86859" y="1088136"/>
            <a:ext cx="1783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703979" y="1389888"/>
            <a:ext cx="191164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Binus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Pengunjung Binus Festival &amp; event kampus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&amp; himpunan — pesanan kolektif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kampus lain (fase 2)</a:t>
            </a:r>
            <a:endParaRPr lang="en-US" sz="10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10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pre-order mingguan di area kampus (fase 3)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11480" y="5047488"/>
            <a:ext cx="5629504" cy="1426464"/>
          </a:xfrm>
          <a:prstGeom prst="roundRect">
            <a:avLst>
              <a:gd name="adj" fmla="val 3846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9496" y="5202936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4088" y="5129784"/>
            <a:ext cx="522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21208" y="5431536"/>
            <a:ext cx="5355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baku ± Rp2.600/botol (teh, susu, gula aren, bean curd)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Kemasan Rp1.500/botol (botol, label, sealer) → HPP ± Rp4.100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&amp; promosi skala kecil · biaya booth event bila ada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sewa toko tetap &amp; tanpa pegawai harian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150712" y="5047488"/>
            <a:ext cx="5629504" cy="1426464"/>
          </a:xfrm>
          <a:prstGeom prst="roundRect">
            <a:avLst>
              <a:gd name="adj" fmla="val 3846"/>
            </a:avLst>
          </a:prstGeom>
          <a:solidFill>
            <a:srgbClr val="F1F5F2"/>
          </a:solidFill>
          <a:ln w="12700">
            <a:solidFill>
              <a:srgbClr val="F1F5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278728" y="5202936"/>
            <a:ext cx="91440" cy="9144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43320" y="5129784"/>
            <a:ext cx="522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260440" y="5431536"/>
            <a:ext cx="53551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per botol: Aren Rp15.000 · Jasmine Bean Curd Rp20.000 · Matcha Cloud Rp25.000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bundling 5 &amp; 10 botol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pre-order — kas masuk sebelum produksi</a:t>
            </a:r>
            <a:endParaRPr lang="en-US" sz="950" dirty="0"/>
          </a:p>
          <a:p>
            <a:pPr marL="127000" indent="-127000"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kotor ± 73% per botol (Aren)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875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masuk, respons keluar, noise menekan dari atas, kendali menopang dari bawah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43400" y="297180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4F8F5"/>
          </a:solidFill>
          <a:ln w="25400">
            <a:solidFill>
              <a:srgbClr val="0B3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43400" y="297180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batch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pickup Spill de Tea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1965960"/>
            <a:ext cx="0" cy="914400"/>
          </a:xfrm>
          <a:prstGeom prst="line">
            <a:avLst/>
          </a:prstGeom>
          <a:noFill/>
          <a:ln w="28575">
            <a:solidFill>
              <a:srgbClr val="A65A3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0760" y="1965960"/>
            <a:ext cx="0" cy="914400"/>
          </a:xfrm>
          <a:prstGeom prst="line">
            <a:avLst/>
          </a:prstGeom>
          <a:noFill/>
          <a:ln w="28575">
            <a:solidFill>
              <a:srgbClr val="A65A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78040" y="1965960"/>
            <a:ext cx="0" cy="914400"/>
          </a:xfrm>
          <a:prstGeom prst="line">
            <a:avLst/>
          </a:prstGeom>
          <a:noFill/>
          <a:ln w="28575">
            <a:solidFill>
              <a:srgbClr val="A65A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70448" y="1481328"/>
            <a:ext cx="118872" cy="118872"/>
          </a:xfrm>
          <a:prstGeom prst="rect">
            <a:avLst/>
          </a:prstGeom>
          <a:solidFill>
            <a:srgbClr val="A65A3A"/>
          </a:solidFill>
          <a:ln w="12700">
            <a:solidFill>
              <a:srgbClr val="A65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FACTOR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dikendalikan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83480" y="4160520"/>
            <a:ext cx="0" cy="914400"/>
          </a:xfrm>
          <a:prstGeom prst="line">
            <a:avLst/>
          </a:prstGeom>
          <a:noFill/>
          <a:ln w="28575">
            <a:solidFill>
              <a:srgbClr val="0B3B2E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4160520"/>
            <a:ext cx="0" cy="914400"/>
          </a:xfrm>
          <a:prstGeom prst="line">
            <a:avLst/>
          </a:prstGeom>
          <a:noFill/>
          <a:ln w="28575">
            <a:solidFill>
              <a:srgbClr val="0B3B2E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7178040" y="4160520"/>
            <a:ext cx="0" cy="914400"/>
          </a:xfrm>
          <a:prstGeom prst="line">
            <a:avLst/>
          </a:prstGeom>
          <a:noFill/>
          <a:ln w="28575">
            <a:solidFill>
              <a:srgbClr val="0B3B2E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5742432" y="5230368"/>
            <a:ext cx="118872" cy="118872"/>
          </a:xfrm>
          <a:prstGeom prst="rect">
            <a:avLst/>
          </a:prstGeom>
          <a:solidFill>
            <a:srgbClr val="0B3B2E"/>
          </a:solidFill>
          <a:ln w="12700">
            <a:solidFill>
              <a:srgbClr val="0B3B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52744" y="5138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FACTOR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5413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kunci di SOP batch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83080" y="3547872"/>
            <a:ext cx="2468880" cy="0"/>
          </a:xfrm>
          <a:prstGeom prst="line">
            <a:avLst/>
          </a:prstGeom>
          <a:noFill/>
          <a:ln w="28575">
            <a:solidFill>
              <a:srgbClr val="C8A2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" y="2898648"/>
            <a:ext cx="118872" cy="118872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" y="2807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FACTOR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dari pelanggan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09560" y="3547872"/>
            <a:ext cx="2468880" cy="0"/>
          </a:xfrm>
          <a:prstGeom prst="line">
            <a:avLst/>
          </a:prstGeom>
          <a:noFill/>
          <a:ln w="28575">
            <a:solidFill>
              <a:srgbClr val="2E6E7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13648" y="2898648"/>
            <a:ext cx="118872" cy="118872"/>
          </a:xfrm>
          <a:prstGeom prst="rect">
            <a:avLst/>
          </a:prstGeom>
          <a:solidFill>
            <a:srgbClr val="2E6E7E"/>
          </a:solidFill>
          <a:ln w="12700">
            <a:solidFill>
              <a:srgbClr val="2E6E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23960" y="2807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RESPONSE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13648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tetap stabil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206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Identifikasi Faktor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Service: Spill de Tea — milk tea botolan 250 ml, pre-order event kampus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53312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7548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Indikator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Deskripsi / Dampak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Kami tetapkan sendiri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Dosis teh &amp; gula aren cair per liter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Suhu dan lama seduh teh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Rasio teh : susu : gula aren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Takaran bean curd per botol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Ukuran batch produksi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Produksi dikunci di H-1 sebelum pickup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Suhu rantai dingin dapur sampai booth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petugas &amp; jalur di booth pickup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35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Penentu langsung konsistensi rasa antar botol dan kecepatan layani. Ditetapkan di SOP batch sebelum produksi, dan inilah yang kami setel ketika evaluasi event menunjukkan variasi.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6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luar kendali kami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Suhu &amp; kelembapan venue saat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Variasi mutu bahan baku antar kiriman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Lama botol dibawa sebelum diminum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Lonjakan pengambilan di jam istirahat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Ketersediaan listrik &amp; es di booth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Pembeli telat ambil atau tidak datang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Cuaca — hujan menurunkan kunjungan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35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 variasi rasa, suhu, dan antrean yang tidak bisa dihilangkan. Desain tidak melawan noise ini, tapi harus tetap memberi hasil sama meski semuanya berubah.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8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Datang dari pelanggan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botol per pesanan (1 sampai paket 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Varian: Aren, Jasmine Bean Curd, Matcha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Kustomisasi: less sugar, tanpa bean curd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waktu pickup yang dipilih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volume pre-order per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35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yang menggerakkan besar dan komposisi batch. Terkumpul lewat form pre-order sebelum hari-H, jadi sinyalnya sudah pasti saat produksi dimulai — bukan tebakan seperti booth walk-in.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Kami ukur tiap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Konsistensi rasa antar botol (QC sensori)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Suhu minuman saat diterima pembeli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tunggu di jalur pickup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Ketepatan pemenuhan — tepat waktu &amp; tepat 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HPP aktual per botol vs target Rp4.100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02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Botol terbuang terhadap jumlah produksi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35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harus tetap stabil walau noise berubah. Dicatat tiap event lalu dipakai menyetel ulang control factor untuk siklus berikutnya — ini yang menutup loop evaluasi.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t">
                    <a:lnL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Output Response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521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yang kami pakai untuk menilai tiap event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134C3B"/>
          </a:solidFill>
          <a:ln w="12700">
            <a:solidFill>
              <a:srgbClr val="1E66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5292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Lolos QC sensori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192024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134C3B"/>
          </a:solidFill>
          <a:ln w="12700">
            <a:solidFill>
              <a:srgbClr val="1E66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6008" y="21945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10 °C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285292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Suhu saat diterima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9016" y="192024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134C3B"/>
          </a:solidFill>
          <a:ln w="12700">
            <a:solidFill>
              <a:srgbClr val="1E66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3336" y="21945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menit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85292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tunggu pickup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79476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134C3B"/>
          </a:solidFill>
          <a:ln w="12700">
            <a:solidFill>
              <a:srgbClr val="1E66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0690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98%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274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 tepat waktu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1688" y="379476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134C3B"/>
          </a:solidFill>
          <a:ln w="12700">
            <a:solidFill>
              <a:srgbClr val="1E66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36008" y="40690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Rp4.100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47274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aktual per botol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29016" y="379476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134C3B"/>
          </a:solidFill>
          <a:ln w="12700">
            <a:solidFill>
              <a:srgbClr val="1E66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03336" y="40690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403336" y="47274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Botol terbuang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di atas adalah target yang kami tetapkan sebagai tolok ukur, belum hasil pengukuran. Pengukuran sebenarnya diambil pada pilot 500 botol di Binus Festival.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Spill de Tea — BMC &amp; Robust Design</dc:title>
  <dc:subject>PptxGenJS Presentation</dc:subject>
  <dc:creator>PptxGenJS</dc:creator>
  <cp:lastModifiedBy>PptxGenJS</cp:lastModifiedBy>
  <cp:revision>1</cp:revision>
  <dcterms:created xsi:type="dcterms:W3CDTF">2026-10-21T06:50:52Z</dcterms:created>
  <dcterms:modified xsi:type="dcterms:W3CDTF">2026-10-21T06:50:52Z</dcterms:modified>
</cp:coreProperties>
</file>