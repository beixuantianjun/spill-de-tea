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pembuka. Deck ini dua bagian: model bisnisnya dulu (BMC), lalu pemetaan robust design untuk sistem produksi dan pickup.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Bacanya dari kanan: segmen dan value proposition dulu, lalu cara menjangkau, lalu yang di belakang layar. Tekankan bahwa deposit pre-order membuat kas masuk sebelum biaya produksi keluar.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Inti robust design: kita tidak melawan noise, tapi mengatur control factor supaya output tetap stabil meski noise berubah.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Tabel utama sesuai template. Tekankan bahwa signal factor sudah pasti karena pre-order, itu keunggulan sistem kami dibanding booth walk-in.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Penting: sebut bahwa ini target, bukan data hasil pengukuran. Pengukuran nyata baru ada setelah pilot.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731520"/>
            <a:ext cx="1371600" cy="1371600"/>
          </a:xfrm>
          <a:prstGeom prst="ellipse">
            <a:avLst/>
          </a:prstGeom>
          <a:solidFill>
            <a:srgbClr val="F6F1E7"/>
          </a:solidFill>
          <a:ln w="15875">
            <a:solidFill>
              <a:srgbClr val="C8A24A"/>
            </a:solidFill>
            <a:prstDash val="solid"/>
          </a:ln>
        </p:spPr>
      </p:sp>
      <p:pic>
        <p:nvPicPr>
          <p:cNvPr id="3" name="Image 0" descr="/home/user/spill-de-tea/assets/emble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832104"/>
            <a:ext cx="1170432" cy="117043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251460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VENTURE CREATION PROJECT  ·  BINUS UNIVERSITY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288036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6F1E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Spill de Tea</a:t>
            </a:r>
            <a:endParaRPr lang="en-US" sz="60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4709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 Canvas  ·  Robust Design Identification Factors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580644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Produksi batch H-1  ·  Pickup jalur khusus  ·  Pilot 500 botol di Binus Festival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pill-de-tea/assets/emble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566928" cy="5669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97280" y="27432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Model Canvas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1097280" y="64008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Spill de Tea — milk tea botolan pre-order untuk event kampus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11480" y="1005840"/>
            <a:ext cx="2185965" cy="3931920"/>
          </a:xfrm>
          <a:prstGeom prst="roundRect">
            <a:avLst>
              <a:gd name="adj" fmla="val 2510"/>
            </a:avLst>
          </a:prstGeom>
          <a:solidFill>
            <a:srgbClr val="F1F5F2"/>
          </a:solidFill>
          <a:ln w="12700">
            <a:solidFill>
              <a:srgbClr val="F1F5F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39496" y="1161288"/>
            <a:ext cx="91440" cy="91440"/>
          </a:xfrm>
          <a:prstGeom prst="rect">
            <a:avLst/>
          </a:prstGeom>
          <a:solidFill>
            <a:srgbClr val="C8A24A"/>
          </a:solidFill>
          <a:ln w="12700">
            <a:solidFill>
              <a:srgbClr val="C8A24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04088" y="1088136"/>
            <a:ext cx="178362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Partners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21208" y="1389888"/>
            <a:ext cx="191164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250"/>
              </a:spcAft>
              <a:buSzPct val="100000"/>
              <a:buChar char="•"/>
            </a:pPr>
            <a:r>
              <a:rPr lang="en-US" sz="1050" dirty="0">
                <a:solidFill>
                  <a:srgbClr val="102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grosir teh bubuk, susu bubuk &amp; gula aren cair</a:t>
            </a:r>
            <a:endParaRPr lang="en-US" sz="1050" dirty="0"/>
          </a:p>
          <a:p>
            <a:pPr marL="127000" indent="-127000">
              <a:spcAft>
                <a:spcPts val="250"/>
              </a:spcAft>
              <a:buSzPct val="100000"/>
              <a:buChar char="•"/>
            </a:pPr>
            <a:r>
              <a:rPr lang="en-US" sz="1050" dirty="0">
                <a:solidFill>
                  <a:srgbClr val="102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Pemasok bahan bean curd</a:t>
            </a:r>
            <a:endParaRPr lang="en-US" sz="1050" dirty="0"/>
          </a:p>
          <a:p>
            <a:pPr marL="127000" indent="-127000">
              <a:spcAft>
                <a:spcPts val="250"/>
              </a:spcAft>
              <a:buSzPct val="100000"/>
              <a:buChar char="•"/>
            </a:pPr>
            <a:r>
              <a:rPr lang="en-US" sz="1050" dirty="0">
                <a:solidFill>
                  <a:srgbClr val="102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botol, label custom &amp; sealer</a:t>
            </a:r>
            <a:endParaRPr lang="en-US" sz="1050" dirty="0"/>
          </a:p>
          <a:p>
            <a:pPr marL="127000" indent="-127000">
              <a:spcAft>
                <a:spcPts val="250"/>
              </a:spcAft>
              <a:buSzPct val="100000"/>
              <a:buChar char="•"/>
            </a:pPr>
            <a:r>
              <a:rPr lang="en-US" sz="1050" dirty="0">
                <a:solidFill>
                  <a:srgbClr val="102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Panitia / EO Binus Festival &amp; himpunan</a:t>
            </a:r>
            <a:endParaRPr lang="en-US" sz="1050" dirty="0"/>
          </a:p>
          <a:p>
            <a:pPr marL="127000" indent="-127000">
              <a:spcAft>
                <a:spcPts val="250"/>
              </a:spcAft>
              <a:buSzPct val="100000"/>
              <a:buChar char="•"/>
            </a:pPr>
            <a:r>
              <a:rPr lang="en-US" sz="1050" dirty="0">
                <a:solidFill>
                  <a:srgbClr val="102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Penyedia pembayaran QRIS</a:t>
            </a:r>
            <a:endParaRPr lang="en-US" sz="1050" dirty="0"/>
          </a:p>
          <a:p>
            <a:pPr marL="127000" indent="-127000">
              <a:spcAft>
                <a:spcPts val="250"/>
              </a:spcAft>
              <a:buSzPct val="100000"/>
              <a:buChar char="•"/>
            </a:pPr>
            <a:r>
              <a:rPr lang="en-US" sz="1050" dirty="0">
                <a:solidFill>
                  <a:srgbClr val="102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Jotform — platform form pre-order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707173" y="1005840"/>
            <a:ext cx="2185965" cy="1911096"/>
          </a:xfrm>
          <a:prstGeom prst="roundRect">
            <a:avLst>
              <a:gd name="adj" fmla="val 2871"/>
            </a:avLst>
          </a:prstGeom>
          <a:solidFill>
            <a:srgbClr val="F1F5F2"/>
          </a:solidFill>
          <a:ln w="12700">
            <a:solidFill>
              <a:srgbClr val="F1F5F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835189" y="1161288"/>
            <a:ext cx="91440" cy="91440"/>
          </a:xfrm>
          <a:prstGeom prst="rect">
            <a:avLst/>
          </a:prstGeom>
          <a:solidFill>
            <a:srgbClr val="C8A24A"/>
          </a:solidFill>
          <a:ln w="12700">
            <a:solidFill>
              <a:srgbClr val="C8A24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999781" y="1088136"/>
            <a:ext cx="178362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Activities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2816901" y="1389888"/>
            <a:ext cx="1911645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02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Rekap pre-order &amp; perencanaan batch</a:t>
            </a:r>
            <a:endParaRPr lang="en-US" sz="950" dirty="0"/>
          </a:p>
          <a:p>
            <a:pPr marL="127000" indent="-127000"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02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Produksi batch H-1</a:t>
            </a:r>
            <a:endParaRPr lang="en-US" sz="950" dirty="0"/>
          </a:p>
          <a:p>
            <a:pPr marL="127000" indent="-127000"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02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QC rasa, suhu &amp; kemasan</a:t>
            </a:r>
            <a:endParaRPr lang="en-US" sz="950" dirty="0"/>
          </a:p>
          <a:p>
            <a:pPr marL="127000" indent="-127000"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02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Operasi booth pickup jalur khusus</a:t>
            </a:r>
            <a:endParaRPr lang="en-US" sz="950" dirty="0"/>
          </a:p>
          <a:p>
            <a:pPr marL="127000" indent="-127000"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02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Konten IG/TikTok &amp; evaluasi tiap event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2707173" y="3026664"/>
            <a:ext cx="2185965" cy="1911096"/>
          </a:xfrm>
          <a:prstGeom prst="roundRect">
            <a:avLst>
              <a:gd name="adj" fmla="val 2871"/>
            </a:avLst>
          </a:prstGeom>
          <a:solidFill>
            <a:srgbClr val="F1F5F2"/>
          </a:solidFill>
          <a:ln w="12700">
            <a:solidFill>
              <a:srgbClr val="F1F5F2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835189" y="3182112"/>
            <a:ext cx="91440" cy="91440"/>
          </a:xfrm>
          <a:prstGeom prst="rect">
            <a:avLst/>
          </a:prstGeom>
          <a:solidFill>
            <a:srgbClr val="C8A24A"/>
          </a:solidFill>
          <a:ln w="12700">
            <a:solidFill>
              <a:srgbClr val="C8A24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999781" y="3108960"/>
            <a:ext cx="178362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Resources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816901" y="3410712"/>
            <a:ext cx="1911645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02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Resep &amp; SOP batch</a:t>
            </a:r>
            <a:endParaRPr lang="en-US" sz="950" dirty="0"/>
          </a:p>
          <a:p>
            <a:pPr marL="127000" indent="-127000"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02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Alat produksi &amp; cooler rantai dingin</a:t>
            </a:r>
            <a:endParaRPr lang="en-US" sz="950" dirty="0"/>
          </a:p>
          <a:p>
            <a:pPr marL="127000" indent="-127000"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02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 mahasiswa TI — Service Systems Eng.</a:t>
            </a:r>
            <a:endParaRPr lang="en-US" sz="950" dirty="0"/>
          </a:p>
          <a:p>
            <a:pPr marL="127000" indent="-127000"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02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Brand: emblem, desain cup, website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002865" y="1005840"/>
            <a:ext cx="2185965" cy="3931920"/>
          </a:xfrm>
          <a:prstGeom prst="roundRect">
            <a:avLst>
              <a:gd name="adj" fmla="val 2510"/>
            </a:avLst>
          </a:prstGeom>
          <a:solidFill>
            <a:srgbClr val="0B3B2E"/>
          </a:solidFill>
          <a:ln w="12700">
            <a:solidFill>
              <a:srgbClr val="0B3B2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130881" y="1161288"/>
            <a:ext cx="91440" cy="91440"/>
          </a:xfrm>
          <a:prstGeom prst="rect">
            <a:avLst/>
          </a:prstGeom>
          <a:solidFill>
            <a:srgbClr val="C8A24A"/>
          </a:solidFill>
          <a:ln w="12700">
            <a:solidFill>
              <a:srgbClr val="C8A24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295473" y="1088136"/>
            <a:ext cx="178362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6F1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Propositions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112593" y="1389888"/>
            <a:ext cx="191164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250"/>
              </a:spcAft>
              <a:buSzPct val="100000"/>
              <a:buChar char="•"/>
            </a:pPr>
            <a:r>
              <a:rPr lang="en-US" sz="1100" dirty="0">
                <a:solidFill>
                  <a:srgbClr val="E6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Rasa premium harga mahasiswa: Rp13.000–15.000 vs kompetitor Rp25.000–38.000</a:t>
            </a:r>
            <a:endParaRPr lang="en-US" sz="1100" dirty="0"/>
          </a:p>
          <a:p>
            <a:pPr marL="127000" indent="-127000">
              <a:spcAft>
                <a:spcPts val="250"/>
              </a:spcAft>
              <a:buSzPct val="100000"/>
              <a:buChar char="•"/>
            </a:pPr>
            <a:r>
              <a:rPr lang="en-US" sz="1100" dirty="0">
                <a:solidFill>
                  <a:srgbClr val="E6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Tanpa antre — pickup lewat jalur khusus pre-order</a:t>
            </a:r>
            <a:endParaRPr lang="en-US" sz="1100" dirty="0"/>
          </a:p>
          <a:p>
            <a:pPr marL="127000" indent="-127000">
              <a:spcAft>
                <a:spcPts val="250"/>
              </a:spcAft>
              <a:buSzPct val="100000"/>
              <a:buChar char="•"/>
            </a:pPr>
            <a:r>
              <a:rPr lang="en-US" sz="1100" dirty="0">
                <a:solidFill>
                  <a:srgbClr val="E6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Selalu fresh: diproduksi H-1, dijaga dingin sampai pickup</a:t>
            </a:r>
            <a:endParaRPr lang="en-US" sz="1100" dirty="0"/>
          </a:p>
          <a:p>
            <a:pPr marL="127000" indent="-127000">
              <a:spcAft>
                <a:spcPts val="250"/>
              </a:spcAft>
              <a:buSzPct val="100000"/>
              <a:buChar char="•"/>
            </a:pPr>
            <a:r>
              <a:rPr lang="en-US" sz="1100" dirty="0">
                <a:solidFill>
                  <a:srgbClr val="E6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Gula aren asli &amp; bean curd sutra</a:t>
            </a:r>
            <a:endParaRPr lang="en-US" sz="1100" dirty="0"/>
          </a:p>
          <a:p>
            <a:pPr marL="127000" indent="-127000">
              <a:spcAft>
                <a:spcPts val="250"/>
              </a:spcAft>
              <a:buSzPct val="100000"/>
              <a:buChar char="•"/>
            </a:pPr>
            <a:r>
              <a:rPr lang="en-US" sz="1100" dirty="0">
                <a:solidFill>
                  <a:srgbClr val="E6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Cup bercetak penuh yang Instagrammable</a:t>
            </a:r>
            <a:endParaRPr lang="en-US" sz="1100" dirty="0"/>
          </a:p>
          <a:p>
            <a:pPr marL="127000" indent="-127000">
              <a:spcAft>
                <a:spcPts val="250"/>
              </a:spcAft>
              <a:buSzPct val="100000"/>
              <a:buChar char="•"/>
            </a:pPr>
            <a:r>
              <a:rPr lang="en-US" sz="1100" dirty="0">
                <a:solidFill>
                  <a:srgbClr val="E6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waste — produksi sesuai pesanan pasti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7298558" y="1005840"/>
            <a:ext cx="2185965" cy="1911096"/>
          </a:xfrm>
          <a:prstGeom prst="roundRect">
            <a:avLst>
              <a:gd name="adj" fmla="val 2871"/>
            </a:avLst>
          </a:prstGeom>
          <a:solidFill>
            <a:srgbClr val="F1F5F2"/>
          </a:solidFill>
          <a:ln w="12700">
            <a:solidFill>
              <a:srgbClr val="F1F5F2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26574" y="1161288"/>
            <a:ext cx="91440" cy="91440"/>
          </a:xfrm>
          <a:prstGeom prst="rect">
            <a:avLst/>
          </a:prstGeom>
          <a:solidFill>
            <a:srgbClr val="C8A24A"/>
          </a:solidFill>
          <a:ln w="12700">
            <a:solidFill>
              <a:srgbClr val="C8A24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591166" y="1088136"/>
            <a:ext cx="178362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Relationships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408286" y="1389888"/>
            <a:ext cx="1911645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02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Komunitas lewat Instagram</a:t>
            </a:r>
            <a:endParaRPr lang="en-US" sz="950" dirty="0"/>
          </a:p>
          <a:p>
            <a:pPr marL="127000" indent="-127000"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02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Paket bareng temen: 5 botol hemat Rp5.000, 10 botol gratis 1</a:t>
            </a:r>
            <a:endParaRPr lang="en-US" sz="950" dirty="0"/>
          </a:p>
          <a:p>
            <a:pPr marL="127000" indent="-127000"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02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Konfirmasi personal via WhatsApp</a:t>
            </a:r>
            <a:endParaRPr lang="en-US" sz="950" dirty="0"/>
          </a:p>
          <a:p>
            <a:pPr marL="127000" indent="-127000"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02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Kode order untuk pickup cepat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7298558" y="3026664"/>
            <a:ext cx="2185965" cy="1911096"/>
          </a:xfrm>
          <a:prstGeom prst="roundRect">
            <a:avLst>
              <a:gd name="adj" fmla="val 2871"/>
            </a:avLst>
          </a:prstGeom>
          <a:solidFill>
            <a:srgbClr val="F1F5F2"/>
          </a:solidFill>
          <a:ln w="12700">
            <a:solidFill>
              <a:srgbClr val="F1F5F2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426574" y="3182112"/>
            <a:ext cx="91440" cy="91440"/>
          </a:xfrm>
          <a:prstGeom prst="rect">
            <a:avLst/>
          </a:prstGeom>
          <a:solidFill>
            <a:srgbClr val="C8A24A"/>
          </a:solidFill>
          <a:ln w="12700">
            <a:solidFill>
              <a:srgbClr val="C8A24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591166" y="3108960"/>
            <a:ext cx="178362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Channels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7408286" y="3410712"/>
            <a:ext cx="1911645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02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+ form pre-order Jotform</a:t>
            </a:r>
            <a:endParaRPr lang="en-US" sz="950" dirty="0"/>
          </a:p>
          <a:p>
            <a:pPr marL="127000" indent="-127000"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02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 &amp; TikTok</a:t>
            </a:r>
            <a:endParaRPr lang="en-US" sz="950" dirty="0"/>
          </a:p>
          <a:p>
            <a:pPr marL="127000" indent="-127000"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02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untuk konfirmasi &amp; bayar</a:t>
            </a:r>
            <a:endParaRPr lang="en-US" sz="950" dirty="0"/>
          </a:p>
          <a:p>
            <a:pPr marL="127000" indent="-127000"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02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Booth pickup di lokasi event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9594251" y="1005840"/>
            <a:ext cx="2185965" cy="3931920"/>
          </a:xfrm>
          <a:prstGeom prst="roundRect">
            <a:avLst>
              <a:gd name="adj" fmla="val 2510"/>
            </a:avLst>
          </a:prstGeom>
          <a:solidFill>
            <a:srgbClr val="F1F5F2"/>
          </a:solidFill>
          <a:ln w="12700">
            <a:solidFill>
              <a:srgbClr val="F1F5F2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722267" y="1161288"/>
            <a:ext cx="91440" cy="91440"/>
          </a:xfrm>
          <a:prstGeom prst="rect">
            <a:avLst/>
          </a:prstGeom>
          <a:solidFill>
            <a:srgbClr val="C8A24A"/>
          </a:solidFill>
          <a:ln w="12700">
            <a:solidFill>
              <a:srgbClr val="C8A24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886859" y="1088136"/>
            <a:ext cx="178362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Segments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9703979" y="1389888"/>
            <a:ext cx="191164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250"/>
              </a:spcAft>
              <a:buSzPct val="100000"/>
              <a:buChar char="•"/>
            </a:pPr>
            <a:r>
              <a:rPr lang="en-US" sz="1050" dirty="0">
                <a:solidFill>
                  <a:srgbClr val="102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Mahasiswa Binus</a:t>
            </a:r>
            <a:endParaRPr lang="en-US" sz="1050" dirty="0"/>
          </a:p>
          <a:p>
            <a:pPr marL="127000" indent="-127000">
              <a:spcAft>
                <a:spcPts val="250"/>
              </a:spcAft>
              <a:buSzPct val="100000"/>
              <a:buChar char="•"/>
            </a:pPr>
            <a:r>
              <a:rPr lang="en-US" sz="1050" dirty="0">
                <a:solidFill>
                  <a:srgbClr val="102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Pengunjung Binus Festival &amp; event kampus</a:t>
            </a:r>
            <a:endParaRPr lang="en-US" sz="1050" dirty="0"/>
          </a:p>
          <a:p>
            <a:pPr marL="127000" indent="-127000">
              <a:spcAft>
                <a:spcPts val="250"/>
              </a:spcAft>
              <a:buSzPct val="100000"/>
              <a:buChar char="•"/>
            </a:pPr>
            <a:r>
              <a:rPr lang="en-US" sz="1050" dirty="0">
                <a:solidFill>
                  <a:srgbClr val="102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Panitia &amp; himpunan — pesanan kolektif</a:t>
            </a:r>
            <a:endParaRPr lang="en-US" sz="1050" dirty="0"/>
          </a:p>
          <a:p>
            <a:pPr marL="127000" indent="-127000">
              <a:spcAft>
                <a:spcPts val="250"/>
              </a:spcAft>
              <a:buSzPct val="100000"/>
              <a:buChar char="•"/>
            </a:pPr>
            <a:r>
              <a:rPr lang="en-US" sz="1050" dirty="0">
                <a:solidFill>
                  <a:srgbClr val="102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kampus lain (fase 2)</a:t>
            </a:r>
            <a:endParaRPr lang="en-US" sz="1050" dirty="0"/>
          </a:p>
          <a:p>
            <a:pPr marL="127000" indent="-127000">
              <a:spcAft>
                <a:spcPts val="250"/>
              </a:spcAft>
              <a:buSzPct val="100000"/>
              <a:buChar char="•"/>
            </a:pPr>
            <a:r>
              <a:rPr lang="en-US" sz="1050" dirty="0">
                <a:solidFill>
                  <a:srgbClr val="102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Pelanggan pre-order mingguan di area kampus (fase 3)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411480" y="5047488"/>
            <a:ext cx="5629504" cy="1426464"/>
          </a:xfrm>
          <a:prstGeom prst="roundRect">
            <a:avLst>
              <a:gd name="adj" fmla="val 3846"/>
            </a:avLst>
          </a:prstGeom>
          <a:solidFill>
            <a:srgbClr val="F1F5F2"/>
          </a:solidFill>
          <a:ln w="12700">
            <a:solidFill>
              <a:srgbClr val="F1F5F2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39496" y="5202936"/>
            <a:ext cx="91440" cy="91440"/>
          </a:xfrm>
          <a:prstGeom prst="rect">
            <a:avLst/>
          </a:prstGeom>
          <a:solidFill>
            <a:srgbClr val="C8A24A"/>
          </a:solidFill>
          <a:ln w="12700">
            <a:solidFill>
              <a:srgbClr val="C8A24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04088" y="5129784"/>
            <a:ext cx="5227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Structure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521208" y="5431536"/>
            <a:ext cx="535518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02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Bahan baku ± Rp2.600/botol (teh, susu, gula aren, bean curd)</a:t>
            </a:r>
            <a:endParaRPr lang="en-US" sz="950" dirty="0"/>
          </a:p>
          <a:p>
            <a:pPr marL="127000" indent="-127000"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02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Kemasan Rp1.500/botol (botol, label, sealer) → HPP ± Rp4.100</a:t>
            </a:r>
            <a:endParaRPr lang="en-US" sz="950" dirty="0"/>
          </a:p>
          <a:p>
            <a:pPr marL="127000" indent="-127000"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02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Konten &amp; promosi skala kecil · biaya booth event bila ada</a:t>
            </a:r>
            <a:endParaRPr lang="en-US" sz="950" dirty="0"/>
          </a:p>
          <a:p>
            <a:pPr marL="127000" indent="-127000"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02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Tanpa sewa toko tetap &amp; tanpa pegawai harian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6150712" y="5047488"/>
            <a:ext cx="5629504" cy="1426464"/>
          </a:xfrm>
          <a:prstGeom prst="roundRect">
            <a:avLst>
              <a:gd name="adj" fmla="val 3846"/>
            </a:avLst>
          </a:prstGeom>
          <a:solidFill>
            <a:srgbClr val="F1F5F2"/>
          </a:solidFill>
          <a:ln w="12700">
            <a:solidFill>
              <a:srgbClr val="F1F5F2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6278728" y="5202936"/>
            <a:ext cx="91440" cy="91440"/>
          </a:xfrm>
          <a:prstGeom prst="rect">
            <a:avLst/>
          </a:prstGeom>
          <a:solidFill>
            <a:srgbClr val="C8A24A"/>
          </a:solidFill>
          <a:ln w="12700">
            <a:solidFill>
              <a:srgbClr val="C8A24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43320" y="5129784"/>
            <a:ext cx="52271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Streams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6260440" y="5431536"/>
            <a:ext cx="535518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02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Penjualan per botol: Aren Rp13.000 · Jasmine Bean Curd &amp; Matcha Cloud Rp15.000</a:t>
            </a:r>
            <a:endParaRPr lang="en-US" sz="950" dirty="0"/>
          </a:p>
          <a:p>
            <a:pPr marL="127000" indent="-127000"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02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Paket bundling 5 &amp; 10 botol</a:t>
            </a:r>
            <a:endParaRPr lang="en-US" sz="950" dirty="0"/>
          </a:p>
          <a:p>
            <a:pPr marL="127000" indent="-127000"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02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 pre-order — kas masuk sebelum produksi</a:t>
            </a:r>
            <a:endParaRPr lang="en-US" sz="950" dirty="0"/>
          </a:p>
          <a:p>
            <a:pPr marL="127000" indent="-127000"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02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kotor ± 68% per botol (Aren)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P-Diagram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987552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Sinyal masuk, respons keluar, noise menekan dari atas, kendali menopang dari bawah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343400" y="2971800"/>
            <a:ext cx="3474720" cy="1143000"/>
          </a:xfrm>
          <a:prstGeom prst="roundRect">
            <a:avLst>
              <a:gd name="adj" fmla="val 9600"/>
            </a:avLst>
          </a:prstGeom>
          <a:solidFill>
            <a:srgbClr val="F4F8F5"/>
          </a:solidFill>
          <a:ln w="25400">
            <a:solidFill>
              <a:srgbClr val="0B3B2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343400" y="2971800"/>
            <a:ext cx="3474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Produksi batch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102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pickup Spill de Tea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983480" y="1965960"/>
            <a:ext cx="0" cy="914400"/>
          </a:xfrm>
          <a:prstGeom prst="line">
            <a:avLst/>
          </a:prstGeom>
          <a:noFill/>
          <a:ln w="28575">
            <a:solidFill>
              <a:srgbClr val="A65A3A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6080760" y="1965960"/>
            <a:ext cx="0" cy="914400"/>
          </a:xfrm>
          <a:prstGeom prst="line">
            <a:avLst/>
          </a:prstGeom>
          <a:noFill/>
          <a:ln w="28575">
            <a:solidFill>
              <a:srgbClr val="A65A3A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178040" y="1965960"/>
            <a:ext cx="0" cy="914400"/>
          </a:xfrm>
          <a:prstGeom prst="line">
            <a:avLst/>
          </a:prstGeom>
          <a:noFill/>
          <a:ln w="28575">
            <a:solidFill>
              <a:srgbClr val="A65A3A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5870448" y="1481328"/>
            <a:ext cx="118872" cy="118872"/>
          </a:xfrm>
          <a:prstGeom prst="rect">
            <a:avLst/>
          </a:prstGeom>
          <a:solidFill>
            <a:srgbClr val="A65A3A"/>
          </a:solidFill>
          <a:ln w="12700">
            <a:solidFill>
              <a:srgbClr val="A65A3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80760" y="13898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6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FACTOR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343400" y="166420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 bisa dikendalikan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983480" y="4160520"/>
            <a:ext cx="0" cy="914400"/>
          </a:xfrm>
          <a:prstGeom prst="line">
            <a:avLst/>
          </a:prstGeom>
          <a:noFill/>
          <a:ln w="28575">
            <a:solidFill>
              <a:srgbClr val="0B3B2E"/>
            </a:solidFill>
            <a:prstDash val="solid"/>
            <a:headEnd type="triangle"/>
          </a:ln>
        </p:spPr>
      </p:sp>
      <p:sp>
        <p:nvSpPr>
          <p:cNvPr id="13" name="Shape 11"/>
          <p:cNvSpPr/>
          <p:nvPr/>
        </p:nvSpPr>
        <p:spPr>
          <a:xfrm>
            <a:off x="6080760" y="4160520"/>
            <a:ext cx="0" cy="914400"/>
          </a:xfrm>
          <a:prstGeom prst="line">
            <a:avLst/>
          </a:prstGeom>
          <a:noFill/>
          <a:ln w="28575">
            <a:solidFill>
              <a:srgbClr val="0B3B2E"/>
            </a:solidFill>
            <a:prstDash val="solid"/>
            <a:headEnd type="triangle"/>
          </a:ln>
        </p:spPr>
      </p:sp>
      <p:sp>
        <p:nvSpPr>
          <p:cNvPr id="14" name="Shape 12"/>
          <p:cNvSpPr/>
          <p:nvPr/>
        </p:nvSpPr>
        <p:spPr>
          <a:xfrm>
            <a:off x="7178040" y="4160520"/>
            <a:ext cx="0" cy="914400"/>
          </a:xfrm>
          <a:prstGeom prst="line">
            <a:avLst/>
          </a:prstGeom>
          <a:noFill/>
          <a:ln w="28575">
            <a:solidFill>
              <a:srgbClr val="0B3B2E"/>
            </a:solidFill>
            <a:prstDash val="solid"/>
            <a:headEnd type="triangle"/>
          </a:ln>
        </p:spPr>
      </p:sp>
      <p:sp>
        <p:nvSpPr>
          <p:cNvPr id="15" name="Shape 13"/>
          <p:cNvSpPr/>
          <p:nvPr/>
        </p:nvSpPr>
        <p:spPr>
          <a:xfrm>
            <a:off x="5742432" y="5230368"/>
            <a:ext cx="118872" cy="118872"/>
          </a:xfrm>
          <a:prstGeom prst="rect">
            <a:avLst/>
          </a:prstGeom>
          <a:solidFill>
            <a:srgbClr val="0B3B2E"/>
          </a:solidFill>
          <a:ln w="12700">
            <a:solidFill>
              <a:srgbClr val="0B3B2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52744" y="51389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FACTOR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343400" y="541324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kami kunci di SOP batch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1783080" y="3547872"/>
            <a:ext cx="2468880" cy="0"/>
          </a:xfrm>
          <a:prstGeom prst="line">
            <a:avLst/>
          </a:prstGeom>
          <a:noFill/>
          <a:ln w="28575">
            <a:solidFill>
              <a:srgbClr val="C8A24A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21792" y="2898648"/>
            <a:ext cx="118872" cy="118872"/>
          </a:xfrm>
          <a:prstGeom prst="rect">
            <a:avLst/>
          </a:prstGeom>
          <a:solidFill>
            <a:srgbClr val="C8A24A"/>
          </a:solidFill>
          <a:ln w="12700">
            <a:solidFill>
              <a:srgbClr val="C8A24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2104" y="2807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84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FACTOR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" y="309067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dari pelanggan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09560" y="3547872"/>
            <a:ext cx="2468880" cy="0"/>
          </a:xfrm>
          <a:prstGeom prst="line">
            <a:avLst/>
          </a:prstGeom>
          <a:noFill/>
          <a:ln w="28575">
            <a:solidFill>
              <a:srgbClr val="2E6E7E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8613648" y="2898648"/>
            <a:ext cx="118872" cy="118872"/>
          </a:xfrm>
          <a:prstGeom prst="rect">
            <a:avLst/>
          </a:prstGeom>
          <a:solidFill>
            <a:srgbClr val="2E6E7E"/>
          </a:solidFill>
          <a:ln w="12700">
            <a:solidFill>
              <a:srgbClr val="2E6E7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823960" y="280720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RESPONSE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8613648" y="309067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harus tetap stabil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2062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Identifikasi Faktor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96926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/ Service: Spill de Tea — milk tea botolan 250 ml, pre-order event kampus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353312"/>
          <a:ext cx="109728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754880"/>
                <a:gridCol w="3931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spc="100" kern="0" dirty="0">
                          <a:solidFill>
                            <a:srgbClr val="6B7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 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t">
                    <a:lnL w="9525" cap="flat" cmpd="sng" algn="ctr">
                      <a:solidFill>
                        <a:srgbClr val="DDD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spc="100" kern="0" dirty="0">
                          <a:solidFill>
                            <a:srgbClr val="6B7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Indikator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t">
                    <a:lnL w="9525" cap="flat" cmpd="sng" algn="ctr">
                      <a:solidFill>
                        <a:srgbClr val="DDD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spc="100" kern="0" dirty="0">
                          <a:solidFill>
                            <a:srgbClr val="6B7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Deskripsi / Dampak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t">
                    <a:lnL w="9525" cap="flat" cmpd="sng" algn="ctr">
                      <a:solidFill>
                        <a:srgbClr val="DDD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3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 Factor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Kami tetapkan sendiri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t">
                    <a:lnL w="9525" cap="flat" cmpd="sng" algn="ctr">
                      <a:solidFill>
                        <a:srgbClr val="DDD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1000" dirty="0">
                          <a:solidFill>
                            <a:srgbClr val="1022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Dosis teh &amp; gula aren cair per liter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1000" dirty="0">
                          <a:solidFill>
                            <a:srgbClr val="1022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Suhu dan lama seduh teh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1000" dirty="0">
                          <a:solidFill>
                            <a:srgbClr val="1022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Rasio teh : susu : gula aren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1000" dirty="0">
                          <a:solidFill>
                            <a:srgbClr val="1022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Takaran bean curd per botol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1000" dirty="0">
                          <a:solidFill>
                            <a:srgbClr val="1022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Ukuran batch produksi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1000" dirty="0">
                          <a:solidFill>
                            <a:srgbClr val="1022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Produksi dikunci di H-1 sebelum pickup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1000" dirty="0">
                          <a:solidFill>
                            <a:srgbClr val="1022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Suhu rantai dingin dapur sampai booth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1000" dirty="0">
                          <a:solidFill>
                            <a:srgbClr val="1022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Jumlah petugas &amp; jalur di booth pickup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t">
                    <a:lnL w="9525" cap="flat" cmpd="sng" algn="ctr">
                      <a:solidFill>
                        <a:srgbClr val="DDD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35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Penentu langsung konsistensi rasa antar botol dan kecepatan layani. Ditetapkan di SOP batch sebelum produksi, dan inilah yang kami setel ketika evaluasi event menunjukkan variasi.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t">
                    <a:lnL w="9525" cap="flat" cmpd="sng" algn="ctr">
                      <a:solidFill>
                        <a:srgbClr val="DDD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6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Noise Factor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 luar kendali kami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t">
                    <a:lnL w="9525" cap="flat" cmpd="sng" algn="ctr">
                      <a:solidFill>
                        <a:srgbClr val="DDD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1000" dirty="0">
                          <a:solidFill>
                            <a:srgbClr val="1022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Suhu &amp; kelembapan venue saat event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1000" dirty="0">
                          <a:solidFill>
                            <a:srgbClr val="1022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Variasi mutu bahan baku antar kiriman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1000" dirty="0">
                          <a:solidFill>
                            <a:srgbClr val="1022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Lama botol dibawa sebelum diminum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1000" dirty="0">
                          <a:solidFill>
                            <a:srgbClr val="1022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Lonjakan pengambilan di jam istirahat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1000" dirty="0">
                          <a:solidFill>
                            <a:srgbClr val="1022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Ketersediaan listrik &amp; es di booth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1000" dirty="0">
                          <a:solidFill>
                            <a:srgbClr val="1022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Pembeli telat ambil atau tidak datang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1000" dirty="0">
                          <a:solidFill>
                            <a:srgbClr val="1022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Cuaca — hujan menurunkan kunjungan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t">
                    <a:lnL w="9525" cap="flat" cmpd="sng" algn="ctr">
                      <a:solidFill>
                        <a:srgbClr val="DDD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35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Sumber variasi rasa, suhu, dan antrean yang tidak bisa dihilangkan. Desain tidak melawan noise ini, tapi harus tetap memberi hasil sama meski semuanya berubah.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t">
                    <a:lnL w="9525" cap="flat" cmpd="sng" algn="ctr">
                      <a:solidFill>
                        <a:srgbClr val="DDD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84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Signal Factor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Datang dari pelanggan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t">
                    <a:lnL w="9525" cap="flat" cmpd="sng" algn="ctr">
                      <a:solidFill>
                        <a:srgbClr val="DDD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1000" dirty="0">
                          <a:solidFill>
                            <a:srgbClr val="1022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Jumlah botol per pesanan (1 sampai paket 10)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1000" dirty="0">
                          <a:solidFill>
                            <a:srgbClr val="1022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Varian: Aren, Jasmine Bean Curd, Matcha Cloud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1000" dirty="0">
                          <a:solidFill>
                            <a:srgbClr val="1022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Kustomisasi: less sugar, tanpa bean curd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1000" dirty="0">
                          <a:solidFill>
                            <a:srgbClr val="1022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Slot waktu pickup yang dipilih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1000" dirty="0">
                          <a:solidFill>
                            <a:srgbClr val="1022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volume pre-order per event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t">
                    <a:lnL w="9525" cap="flat" cmpd="sng" algn="ctr">
                      <a:solidFill>
                        <a:srgbClr val="DDD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35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 yang menggerakkan besar dan komposisi batch. Terkumpul lewat form pre-order sebelum hari-H, jadi sinyalnya sudah pasti saat produksi dimulai — bukan tebakan seperti booth walk-in.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t">
                    <a:lnL w="9525" cap="flat" cmpd="sng" algn="ctr">
                      <a:solidFill>
                        <a:srgbClr val="DDD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6E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 Response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B7A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Kami ukur tiap event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t">
                    <a:lnL w="9525" cap="flat" cmpd="sng" algn="ctr">
                      <a:solidFill>
                        <a:srgbClr val="DDD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1000" dirty="0">
                          <a:solidFill>
                            <a:srgbClr val="1022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Konsistensi rasa antar botol (QC sensori)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1000" dirty="0">
                          <a:solidFill>
                            <a:srgbClr val="1022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Suhu minuman saat diterima pembeli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1000" dirty="0">
                          <a:solidFill>
                            <a:srgbClr val="1022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Waktu tunggu di jalur pickup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1000" dirty="0">
                          <a:solidFill>
                            <a:srgbClr val="1022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Ketepatan pemenuhan — tepat waktu &amp; tepat isi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1000" dirty="0">
                          <a:solidFill>
                            <a:srgbClr val="1022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HPP aktual per botol vs target Rp4.100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1000" dirty="0">
                          <a:solidFill>
                            <a:srgbClr val="1022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Botol terbuang terhadap jumlah produksi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t">
                    <a:lnL w="9525" cap="flat" cmpd="sng" algn="ctr">
                      <a:solidFill>
                        <a:srgbClr val="DDD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35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Hasil yang harus tetap stabil walau noise berubah. Dicatat tiap event lalu dipakai menyetel ulang control factor untuk siklus berikutnya — ini yang menutup loop evaluasi.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14300" marR="114300" marT="63500" marB="63500" anchor="t">
                    <a:lnL w="9525" cap="flat" cmpd="sng" algn="ctr">
                      <a:solidFill>
                        <a:srgbClr val="DDD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3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3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6F1E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 Output Response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15214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B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Batas yang kami pakai untuk menilai tiap event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94360" y="1920240"/>
            <a:ext cx="3401568" cy="1572768"/>
          </a:xfrm>
          <a:prstGeom prst="roundRect">
            <a:avLst>
              <a:gd name="adj" fmla="val 5814"/>
            </a:avLst>
          </a:prstGeom>
          <a:solidFill>
            <a:srgbClr val="134C3B"/>
          </a:solidFill>
          <a:ln w="12700">
            <a:solidFill>
              <a:srgbClr val="1E665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94560"/>
            <a:ext cx="28529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≥ 95%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852928"/>
            <a:ext cx="2852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9C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Lolos QC sensori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61688" y="1920240"/>
            <a:ext cx="3401568" cy="1572768"/>
          </a:xfrm>
          <a:prstGeom prst="roundRect">
            <a:avLst>
              <a:gd name="adj" fmla="val 5814"/>
            </a:avLst>
          </a:prstGeom>
          <a:solidFill>
            <a:srgbClr val="134C3B"/>
          </a:solidFill>
          <a:ln w="12700">
            <a:solidFill>
              <a:srgbClr val="1E665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36008" y="2194560"/>
            <a:ext cx="28529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≤ 10 °C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636008" y="2852928"/>
            <a:ext cx="2852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9C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Suhu saat diterima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29016" y="1920240"/>
            <a:ext cx="3401568" cy="1572768"/>
          </a:xfrm>
          <a:prstGeom prst="roundRect">
            <a:avLst>
              <a:gd name="adj" fmla="val 5814"/>
            </a:avLst>
          </a:prstGeom>
          <a:solidFill>
            <a:srgbClr val="134C3B"/>
          </a:solidFill>
          <a:ln w="12700">
            <a:solidFill>
              <a:srgbClr val="1E665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03336" y="2194560"/>
            <a:ext cx="28529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≤ 2 menit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8403336" y="2852928"/>
            <a:ext cx="2852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9C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Waktu tunggu pickup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94360" y="3794760"/>
            <a:ext cx="3401568" cy="1572768"/>
          </a:xfrm>
          <a:prstGeom prst="roundRect">
            <a:avLst>
              <a:gd name="adj" fmla="val 5814"/>
            </a:avLst>
          </a:prstGeom>
          <a:solidFill>
            <a:srgbClr val="134C3B"/>
          </a:solidFill>
          <a:ln w="12700">
            <a:solidFill>
              <a:srgbClr val="1E665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8680" y="4069080"/>
            <a:ext cx="28529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≥ 98%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4727448"/>
            <a:ext cx="2852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9C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Pesanan tepat waktu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361688" y="3794760"/>
            <a:ext cx="3401568" cy="1572768"/>
          </a:xfrm>
          <a:prstGeom prst="roundRect">
            <a:avLst>
              <a:gd name="adj" fmla="val 5814"/>
            </a:avLst>
          </a:prstGeom>
          <a:solidFill>
            <a:srgbClr val="134C3B"/>
          </a:solidFill>
          <a:ln w="12700">
            <a:solidFill>
              <a:srgbClr val="1E665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636008" y="4069080"/>
            <a:ext cx="28529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≤ Rp4.100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4636008" y="4727448"/>
            <a:ext cx="2852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9C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aktual per botol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129016" y="3794760"/>
            <a:ext cx="3401568" cy="1572768"/>
          </a:xfrm>
          <a:prstGeom prst="roundRect">
            <a:avLst>
              <a:gd name="adj" fmla="val 5814"/>
            </a:avLst>
          </a:prstGeom>
          <a:solidFill>
            <a:srgbClr val="134C3B"/>
          </a:solidFill>
          <a:ln w="12700">
            <a:solidFill>
              <a:srgbClr val="1E665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03336" y="4069080"/>
            <a:ext cx="28529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≤ 2%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8403336" y="4727448"/>
            <a:ext cx="2852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9C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Botol terbuang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58978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FA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Angka di atas adalah target yang kami tetapkan sebagai tolok ukur, belum hasil pengukuran. Pengukuran sebenarnya diambil pada pilot 500 botol di Binus Festival.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Spill de Tea — BMC &amp; Robust Design</dc:title>
  <dc:subject>PptxGenJS Presentation</dc:subject>
  <dc:creator>PptxGenJS</dc:creator>
  <cp:lastModifiedBy>PptxGenJS</cp:lastModifiedBy>
  <cp:revision>1</cp:revision>
  <dcterms:created xsi:type="dcterms:W3CDTF">2026-10-20T13:28:53Z</dcterms:created>
  <dcterms:modified xsi:type="dcterms:W3CDTF">2026-10-20T13:28:53Z</dcterms:modified>
</cp:coreProperties>
</file>