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5E6E65"/>
                </a:solidFill>
                <a:latin typeface="Arial"/>
              </a:defRPr>
            </a:pPr>
            <a:r>
              <a:rPr sz="1100" b="0" i="0" u="none" strike="noStrike">
                <a:solidFill>
                  <a:srgbClr val="5E6E65"/>
                </a:solidFill>
                <a:latin typeface="Arial"/>
              </a:rPr>
              <a:t>Juta rupiah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Pendapatan</c:v>
                </c:pt>
              </c:strCache>
            </c:strRef>
          </c:tx>
          <c:spPr>
            <a:solidFill>
              <a:srgbClr val="B9C9C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022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Pilot</c:v>
                  </c:pt>
                  <c:pt idx="1">
                    <c:v>Fase 2</c:v>
                  </c:pt>
                  <c:pt idx="2">
                    <c:v>Fase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6.5</c:v>
                </c:pt>
                <c:pt idx="1">
                  <c:v>26</c:v>
                </c:pt>
                <c:pt idx="2">
                  <c:v>78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Laba kotor</c:v>
                </c:pt>
              </c:strCache>
            </c:strRef>
          </c:tx>
          <c:spPr>
            <a:solidFill>
              <a:srgbClr val="0B3B2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022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Pilot</c:v>
                  </c:pt>
                  <c:pt idx="1">
                    <c:v>Fase 2</c:v>
                  </c:pt>
                  <c:pt idx="2">
                    <c:v>Fase 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4.45</c:v>
                </c:pt>
                <c:pt idx="1">
                  <c:v>17.8</c:v>
                </c:pt>
                <c:pt idx="2">
                  <c:v>53.4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022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022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Pembuka. Satu kalimat posisi kami: rasa premium, harga mahasiswa, tanpa antre.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Tiga hal yang membedakan: harga, produksi sesuai pesanan, dan jalur pickup khusus.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Persona 1: Si mahasiswa dengan jadwal padat. Hubungkan ke segmen di BMC.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Persona 2: Si pengurus konsumsi panitia. Hubungkan ke segmen di BMC.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Persona 3: Si pemburu yang layak di-post. Hubungkan ke segmen di BMC.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Baris atas apa yang mereka alami; baris bawah apa yang mereka lakukan, sakitnya, dan yang mereka cari.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Thai Tea sudah tidak dijual; menu sekarang tiga ini.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Jujur soal kemasan: kontribusi kami di sisi produksi sesuai pesanan, kemasannya belum.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Setiap pain di kanan dijawab satu pain reliever di kiri: antre → jalur khusus, mahal → Rp13–15 ribu, es cair → produksi H-1 dijaga dingin.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Positioning statement adalah ringkasan seluruh deck: siapa, apa, dan kenapa kami.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Brand premium ada di kanan atas, brand murah di kiri bawah. Kiri atas — premium tapi terjangkau — masih kosong, di situ kami.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Empat cabang ide bisnis: apa yang dijual, bagaimana sistemnya, untuk siapa, dan bagaimana brand-nya dikenali.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Prototype digital: situs live dengan form pre-order. Foto prototype fisik ditambahkan di slide berikutnya.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Baca dari segmen dan value proposition, lalu cara menjangkau, lalu yang di belakang layar.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Semua angka dari pitch deck: Rp13.000, HPP Rp4.100, volume tiap fase. Tegaskan ini laba kotor.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Penutup. Kontak Instagram dan WhatsApp ditambahkan setelah datanya 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g"/><Relationship Id="rId3" Type="http://schemas.openxmlformats.org/officeDocument/2006/relationships/image" Target="../media/image-7-3.jpg"/><Relationship Id="rId4" Type="http://schemas.openxmlformats.org/officeDocument/2006/relationships/image" Target="../media/image-7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jpg"/><Relationship Id="rId3" Type="http://schemas.openxmlformats.org/officeDocument/2006/relationships/image" Target="../media/image-13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85800"/>
            <a:ext cx="1234440" cy="1234440"/>
          </a:xfrm>
          <a:prstGeom prst="ellipse">
            <a:avLst/>
          </a:prstGeom>
          <a:solidFill>
            <a:srgbClr val="F6F1E7"/>
          </a:solidFill>
          <a:ln w="15875">
            <a:solidFill>
              <a:srgbClr val="C8A24A"/>
            </a:solidFill>
            <a:prstDash val="solid"/>
          </a:ln>
        </p:spPr>
      </p:sp>
      <p:pic>
        <p:nvPicPr>
          <p:cNvPr id="3" name="Image 0" descr="/home/user/spill-de-tea/assets/em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777240"/>
            <a:ext cx="1051560" cy="10515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33172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CREATIVITY &amp; INNOVATION  ·  VENTURE CREATION PROJECT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697480"/>
            <a:ext cx="6583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6F1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Spill de Tea</a:t>
            </a:r>
            <a:endParaRPr lang="en-US" sz="6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88620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8A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Premium taste, student price.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617720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Milk tea botolan pre-order untuk event kampus — diproduksi segar per batch, diambil tanpa antre.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035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Binus University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18120" y="502920"/>
            <a:ext cx="3840480" cy="5852160"/>
          </a:xfrm>
          <a:prstGeom prst="rect">
            <a:avLst/>
          </a:prstGeom>
          <a:solidFill>
            <a:srgbClr val="134C3B"/>
          </a:solidFill>
          <a:ln w="12700">
            <a:solidFill>
              <a:srgbClr val="C8A24A"/>
            </a:solidFill>
            <a:prstDash val="solid"/>
          </a:ln>
        </p:spPr>
      </p:sp>
      <p:pic>
        <p:nvPicPr>
          <p:cNvPr id="10" name="Image 1" descr="/home/user/spill-de-tea/presentasi/img/cup3d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909560" y="594360"/>
            <a:ext cx="365760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Overview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5097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yang kami jual, dan kenapa caranya berbeda</a:t>
            </a:r>
            <a:endParaRPr lang="en-US" sz="1300" dirty="0"/>
          </a:p>
        </p:txBody>
      </p:sp>
      <p:pic>
        <p:nvPicPr>
          <p:cNvPr id="4" name="Image 0" descr="/home/user/spill-de-tea/assets/em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127" y="347472"/>
            <a:ext cx="566928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63040"/>
            <a:ext cx="6812280" cy="4754880"/>
          </a:xfrm>
          <a:prstGeom prst="roundRect">
            <a:avLst>
              <a:gd name="adj" fmla="val 1538"/>
            </a:avLst>
          </a:prstGeom>
          <a:solidFill>
            <a:srgbClr val="F1F5F2"/>
          </a:solidFill>
          <a:ln w="12700">
            <a:solidFill>
              <a:srgbClr val="F1F5F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8680" y="1737360"/>
            <a:ext cx="61722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50" b="1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Spill de Tea adalah brand milk tea botolan yang berjualan lewat sistem pre-order untuk event kampus.</a:t>
            </a:r>
            <a:endParaRPr lang="en-US" sz="16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5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 berangkat dari keresahan sederhana: minuman kekinian itu enak, tapi antre di booth makan waktu istirahat, harganya berat untuk kantong mahasiswa, dan esnya keburu cair sebelum sempat diminum.</a:t>
            </a:r>
            <a:endParaRPr lang="en-US" sz="16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5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Pelanggan memesan lewat form sebelum hari-H. Kami memproduksi satu batch sesuai jumlah pesanan pasti pada H-1, lalu pesanan diambil di jalur pickup khusus yang terpisah dari antrean walk-in. Hasilnya minuman dengan gula aren asli dan bean curd, dalam cup bercetak penuh, mulai Rp13.000 — sekitar setengah harga brand teh premium.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7635240" y="1463040"/>
            <a:ext cx="4005072" cy="1463040"/>
          </a:xfrm>
          <a:prstGeom prst="roundRect">
            <a:avLst>
              <a:gd name="adj" fmla="val 5000"/>
            </a:avLst>
          </a:prstGeom>
          <a:solidFill>
            <a:srgbClr val="0B3B2E"/>
          </a:solidFill>
          <a:ln w="12700">
            <a:solidFill>
              <a:srgbClr val="0B3B2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909560" y="16916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A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Rp13.000–15.000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7909560" y="22402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botol 250 ml, vs Rp25.000–38.000 di brand premium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635240" y="3090672"/>
            <a:ext cx="4005072" cy="1463040"/>
          </a:xfrm>
          <a:prstGeom prst="roundRect">
            <a:avLst>
              <a:gd name="adj" fmla="val 5000"/>
            </a:avLst>
          </a:prstGeom>
          <a:solidFill>
            <a:srgbClr val="0B3B2E"/>
          </a:solidFill>
          <a:ln w="12700">
            <a:solidFill>
              <a:srgbClr val="0B3B2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909560" y="331927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A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Produksi H-1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7909560" y="386791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batch sesuai pesanan pasti — tidak ada stok yang dibuang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635240" y="4718304"/>
            <a:ext cx="4005072" cy="1463040"/>
          </a:xfrm>
          <a:prstGeom prst="roundRect">
            <a:avLst>
              <a:gd name="adj" fmla="val 5000"/>
            </a:avLst>
          </a:prstGeom>
          <a:solidFill>
            <a:srgbClr val="0B3B2E"/>
          </a:solidFill>
          <a:ln w="12700">
            <a:solidFill>
              <a:srgbClr val="0B3B2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909560" y="494690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A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Jalur khusus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7909560" y="5495544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 pre-order terpisah dari antrean walk-in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Persona 1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5097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mahasiswa dengan jadwal padat</a:t>
            </a:r>
            <a:endParaRPr lang="en-US" sz="1300" dirty="0"/>
          </a:p>
        </p:txBody>
      </p:sp>
      <p:pic>
        <p:nvPicPr>
          <p:cNvPr id="4" name="Image 0" descr="/home/user/spill-de-tea/assets/em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127" y="347472"/>
            <a:ext cx="566928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63040"/>
            <a:ext cx="3429000" cy="4754880"/>
          </a:xfrm>
          <a:prstGeom prst="roundRect">
            <a:avLst>
              <a:gd name="adj" fmla="val 2133"/>
            </a:avLst>
          </a:prstGeom>
          <a:solidFill>
            <a:srgbClr val="0B3B2E"/>
          </a:solidFill>
          <a:ln w="12700">
            <a:solidFill>
              <a:srgbClr val="0B3B2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600200" y="1783080"/>
            <a:ext cx="1325880" cy="1325880"/>
          </a:xfrm>
          <a:prstGeom prst="ellipse">
            <a:avLst/>
          </a:prstGeom>
          <a:solidFill>
            <a:srgbClr val="F6F1E7"/>
          </a:solidFill>
          <a:ln w="19050">
            <a:solidFill>
              <a:srgbClr val="C8A24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600200" y="1783080"/>
            <a:ext cx="1325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B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2461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6F1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Dimas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70332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6E4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tahun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D6E4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Mahasiswa Teknik Industri, semester 5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470916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8A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“Istirahat cuma sebentar, masa habis buat antre minum.”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206240" y="1463040"/>
            <a:ext cx="3626968" cy="2286000"/>
          </a:xfrm>
          <a:prstGeom prst="roundRect">
            <a:avLst>
              <a:gd name="adj" fmla="val 2800"/>
            </a:avLst>
          </a:prstGeom>
          <a:solidFill>
            <a:srgbClr val="F1F5F2"/>
          </a:solidFill>
          <a:ln w="12700">
            <a:solidFill>
              <a:srgbClr val="F1F5F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70832" y="1682496"/>
            <a:ext cx="100584" cy="100584"/>
          </a:xfrm>
          <a:prstGeom prst="rect">
            <a:avLst/>
          </a:prstGeom>
          <a:solidFill>
            <a:srgbClr val="C8A24A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53712" y="1591056"/>
            <a:ext cx="312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Latar Belakang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370832" y="1965960"/>
            <a:ext cx="32977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Kuliah dari pagi sampai sore dengan jeda istirahat yang pendek. Sering datang ke event kampus di sela kelas dan biasanya beli minum di booth yang ada.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8016088" y="1463040"/>
            <a:ext cx="3626968" cy="2286000"/>
          </a:xfrm>
          <a:prstGeom prst="roundRect">
            <a:avLst>
              <a:gd name="adj" fmla="val 2800"/>
            </a:avLst>
          </a:prstGeom>
          <a:solidFill>
            <a:srgbClr val="F1F5F2"/>
          </a:solidFill>
          <a:ln w="12700">
            <a:solidFill>
              <a:srgbClr val="F1F5F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180680" y="1682496"/>
            <a:ext cx="100584" cy="100584"/>
          </a:xfrm>
          <a:prstGeom prst="rect">
            <a:avLst/>
          </a:prstGeom>
          <a:solidFill>
            <a:srgbClr val="C8A24A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363560" y="1591056"/>
            <a:ext cx="312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8180680" y="1965960"/>
            <a:ext cx="32977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Minuman enak tanpa menghabiskan waktu istirahat</a:t>
            </a:r>
            <a:endParaRPr lang="en-US" sz="1400" dirty="0"/>
          </a:p>
          <a:p>
            <a:pPr marL="139700" indent="-1397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Harga yang aman untuk dibeli rutin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206240" y="3931920"/>
            <a:ext cx="3626968" cy="2286000"/>
          </a:xfrm>
          <a:prstGeom prst="roundRect">
            <a:avLst>
              <a:gd name="adj" fmla="val 2800"/>
            </a:avLst>
          </a:prstGeom>
          <a:solidFill>
            <a:srgbClr val="F1F5F2"/>
          </a:solidFill>
          <a:ln w="12700">
            <a:solidFill>
              <a:srgbClr val="F1F5F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370832" y="4151376"/>
            <a:ext cx="100584" cy="100584"/>
          </a:xfrm>
          <a:prstGeom prst="rect">
            <a:avLst/>
          </a:prstGeom>
          <a:solidFill>
            <a:srgbClr val="C8A24A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553712" y="4059936"/>
            <a:ext cx="312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Motivasi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4370832" y="4434840"/>
            <a:ext cx="32977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 waktu</a:t>
            </a:r>
            <a:endParaRPr lang="en-US" sz="1400" dirty="0"/>
          </a:p>
          <a:p>
            <a:pPr marL="139700" indent="-1397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 uang</a:t>
            </a:r>
            <a:endParaRPr lang="en-US" sz="1400" dirty="0"/>
          </a:p>
          <a:p>
            <a:pPr marL="139700" indent="-1397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Tetap dapat rasa yang enak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8016088" y="3931920"/>
            <a:ext cx="3626968" cy="2286000"/>
          </a:xfrm>
          <a:prstGeom prst="roundRect">
            <a:avLst>
              <a:gd name="adj" fmla="val 2800"/>
            </a:avLst>
          </a:prstGeom>
          <a:solidFill>
            <a:srgbClr val="F7EDE8"/>
          </a:solidFill>
          <a:ln w="12700">
            <a:solidFill>
              <a:srgbClr val="F7EDE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180680" y="4151376"/>
            <a:ext cx="100584" cy="100584"/>
          </a:xfrm>
          <a:prstGeom prst="rect">
            <a:avLst/>
          </a:prstGeom>
          <a:solidFill>
            <a:srgbClr val="A65A3A"/>
          </a:solidFill>
          <a:ln w="12700">
            <a:solidFill>
              <a:srgbClr val="A65A3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363560" y="4059936"/>
            <a:ext cx="312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Frustrasi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8180680" y="4434840"/>
            <a:ext cx="32977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Antre panjang di booth saat event</a:t>
            </a:r>
            <a:endParaRPr lang="en-US" sz="1400" dirty="0"/>
          </a:p>
          <a:p>
            <a:pPr marL="139700" indent="-1397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Minuman premium Rp25.000+ terlalu mahal untuk tiap hari</a:t>
            </a:r>
            <a:endParaRPr lang="en-US" sz="1400" dirty="0"/>
          </a:p>
          <a:p>
            <a:pPr marL="139700" indent="-1397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cepat cair, rasa berubah sebelum habis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63550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E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Proto-persona: disusun dari masalah yang kami identifikasi, belum divalidasi survei.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Persona 2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5097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pengurus konsumsi panitia</a:t>
            </a:r>
            <a:endParaRPr lang="en-US" sz="1300" dirty="0"/>
          </a:p>
        </p:txBody>
      </p:sp>
      <p:pic>
        <p:nvPicPr>
          <p:cNvPr id="4" name="Image 0" descr="/home/user/spill-de-tea/assets/em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127" y="347472"/>
            <a:ext cx="566928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63040"/>
            <a:ext cx="3429000" cy="4754880"/>
          </a:xfrm>
          <a:prstGeom prst="roundRect">
            <a:avLst>
              <a:gd name="adj" fmla="val 2133"/>
            </a:avLst>
          </a:prstGeom>
          <a:solidFill>
            <a:srgbClr val="0B3B2E"/>
          </a:solidFill>
          <a:ln w="12700">
            <a:solidFill>
              <a:srgbClr val="0B3B2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600200" y="1783080"/>
            <a:ext cx="1325880" cy="1325880"/>
          </a:xfrm>
          <a:prstGeom prst="ellipse">
            <a:avLst/>
          </a:prstGeom>
          <a:solidFill>
            <a:srgbClr val="F6F1E7"/>
          </a:solidFill>
          <a:ln w="19050">
            <a:solidFill>
              <a:srgbClr val="C8A24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600200" y="1783080"/>
            <a:ext cx="1325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B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2461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6F1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Nadia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70332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6E4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tahun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D6E4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Bendahara himpunan, panitia event kampus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470916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8A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“Yang penting pesanan pasti ada dan sesuai budget.”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206240" y="1463040"/>
            <a:ext cx="3626968" cy="2286000"/>
          </a:xfrm>
          <a:prstGeom prst="roundRect">
            <a:avLst>
              <a:gd name="adj" fmla="val 2800"/>
            </a:avLst>
          </a:prstGeom>
          <a:solidFill>
            <a:srgbClr val="F1F5F2"/>
          </a:solidFill>
          <a:ln w="12700">
            <a:solidFill>
              <a:srgbClr val="F1F5F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70832" y="1682496"/>
            <a:ext cx="100584" cy="100584"/>
          </a:xfrm>
          <a:prstGeom prst="rect">
            <a:avLst/>
          </a:prstGeom>
          <a:solidFill>
            <a:srgbClr val="C8A24A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53712" y="1591056"/>
            <a:ext cx="312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Latar Belakang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370832" y="1965960"/>
            <a:ext cx="32977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Mengurus konsumsi panitia dan tamu di setiap acara himpunan. Harus memesan banyak sekaligus dengan anggaran yang sudah dipatok sejak awal.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8016088" y="1463040"/>
            <a:ext cx="3626968" cy="2286000"/>
          </a:xfrm>
          <a:prstGeom prst="roundRect">
            <a:avLst>
              <a:gd name="adj" fmla="val 2800"/>
            </a:avLst>
          </a:prstGeom>
          <a:solidFill>
            <a:srgbClr val="F1F5F2"/>
          </a:solidFill>
          <a:ln w="12700">
            <a:solidFill>
              <a:srgbClr val="F1F5F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180680" y="1682496"/>
            <a:ext cx="100584" cy="100584"/>
          </a:xfrm>
          <a:prstGeom prst="rect">
            <a:avLst/>
          </a:prstGeom>
          <a:solidFill>
            <a:srgbClr val="C8A24A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363560" y="1591056"/>
            <a:ext cx="312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8180680" y="1965960"/>
            <a:ext cx="32977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 puluhan botol sekali jalan</a:t>
            </a:r>
            <a:endParaRPr lang="en-US" sz="1400" dirty="0"/>
          </a:p>
          <a:p>
            <a:pPr marL="139700" indent="-1397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Pesanan pasti ada tepat waktu</a:t>
            </a:r>
            <a:endParaRPr lang="en-US" sz="1400" dirty="0"/>
          </a:p>
          <a:p>
            <a:pPr marL="139700" indent="-1397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Harga sesuai anggaran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206240" y="3931920"/>
            <a:ext cx="3626968" cy="2286000"/>
          </a:xfrm>
          <a:prstGeom prst="roundRect">
            <a:avLst>
              <a:gd name="adj" fmla="val 2800"/>
            </a:avLst>
          </a:prstGeom>
          <a:solidFill>
            <a:srgbClr val="F1F5F2"/>
          </a:solidFill>
          <a:ln w="12700">
            <a:solidFill>
              <a:srgbClr val="F1F5F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370832" y="4151376"/>
            <a:ext cx="100584" cy="100584"/>
          </a:xfrm>
          <a:prstGeom prst="rect">
            <a:avLst/>
          </a:prstGeom>
          <a:solidFill>
            <a:srgbClr val="C8A24A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553712" y="4059936"/>
            <a:ext cx="312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Motivasi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4370832" y="4434840"/>
            <a:ext cx="32977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kontak untuk pesanan kolektif</a:t>
            </a:r>
            <a:endParaRPr lang="en-US" sz="1400" dirty="0"/>
          </a:p>
          <a:p>
            <a:pPr marL="139700" indent="-1397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Harga paket</a:t>
            </a:r>
            <a:endParaRPr lang="en-US" sz="1400" dirty="0"/>
          </a:p>
          <a:p>
            <a:pPr marL="139700" indent="-1397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Kepastian sebelum hari-H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8016088" y="3931920"/>
            <a:ext cx="3626968" cy="2286000"/>
          </a:xfrm>
          <a:prstGeom prst="roundRect">
            <a:avLst>
              <a:gd name="adj" fmla="val 2800"/>
            </a:avLst>
          </a:prstGeom>
          <a:solidFill>
            <a:srgbClr val="F7EDE8"/>
          </a:solidFill>
          <a:ln w="12700">
            <a:solidFill>
              <a:srgbClr val="F7EDE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180680" y="4151376"/>
            <a:ext cx="100584" cy="100584"/>
          </a:xfrm>
          <a:prstGeom prst="rect">
            <a:avLst/>
          </a:prstGeom>
          <a:solidFill>
            <a:srgbClr val="A65A3A"/>
          </a:solidFill>
          <a:ln w="12700">
            <a:solidFill>
              <a:srgbClr val="A65A3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363560" y="4059936"/>
            <a:ext cx="312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Frustrasi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8180680" y="4434840"/>
            <a:ext cx="32977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Membeli satu per satu di booth makan waktu</a:t>
            </a:r>
            <a:endParaRPr lang="en-US" sz="1400" dirty="0"/>
          </a:p>
          <a:p>
            <a:pPr marL="139700" indent="-1397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Harga premium membuat anggaran jebol</a:t>
            </a:r>
            <a:endParaRPr lang="en-US" sz="1400" dirty="0"/>
          </a:p>
          <a:p>
            <a:pPr marL="139700" indent="-1397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kepastian stok saat acara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63550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E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Proto-persona: disusun dari masalah yang kami identifikasi, belum divalidasi survei.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Persona 3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5097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pemburu yang layak di-post</a:t>
            </a:r>
            <a:endParaRPr lang="en-US" sz="1300" dirty="0"/>
          </a:p>
        </p:txBody>
      </p:sp>
      <p:pic>
        <p:nvPicPr>
          <p:cNvPr id="4" name="Image 0" descr="/home/user/spill-de-tea/assets/em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127" y="347472"/>
            <a:ext cx="566928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63040"/>
            <a:ext cx="3429000" cy="4754880"/>
          </a:xfrm>
          <a:prstGeom prst="roundRect">
            <a:avLst>
              <a:gd name="adj" fmla="val 2133"/>
            </a:avLst>
          </a:prstGeom>
          <a:solidFill>
            <a:srgbClr val="0B3B2E"/>
          </a:solidFill>
          <a:ln w="12700">
            <a:solidFill>
              <a:srgbClr val="0B3B2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600200" y="1783080"/>
            <a:ext cx="1325880" cy="1325880"/>
          </a:xfrm>
          <a:prstGeom prst="ellipse">
            <a:avLst/>
          </a:prstGeom>
          <a:solidFill>
            <a:srgbClr val="F6F1E7"/>
          </a:solidFill>
          <a:ln w="19050">
            <a:solidFill>
              <a:srgbClr val="C8A24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600200" y="1783080"/>
            <a:ext cx="1325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B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2461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6F1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Kayla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70332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6E4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tahun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D6E4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Mahasiswi Komunikasi, aktif di Instagram &amp; TikTok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470916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8A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“Kalau cup-nya cantik, pasti aku post.”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206240" y="1463040"/>
            <a:ext cx="3626968" cy="2286000"/>
          </a:xfrm>
          <a:prstGeom prst="roundRect">
            <a:avLst>
              <a:gd name="adj" fmla="val 2800"/>
            </a:avLst>
          </a:prstGeom>
          <a:solidFill>
            <a:srgbClr val="F1F5F2"/>
          </a:solidFill>
          <a:ln w="12700">
            <a:solidFill>
              <a:srgbClr val="F1F5F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70832" y="1682496"/>
            <a:ext cx="100584" cy="100584"/>
          </a:xfrm>
          <a:prstGeom prst="rect">
            <a:avLst/>
          </a:prstGeom>
          <a:solidFill>
            <a:srgbClr val="C8A24A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53712" y="1591056"/>
            <a:ext cx="312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Latar Belakang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370832" y="1965960"/>
            <a:ext cx="32977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Suka mencoba minuman baru dan hampir selalu memotretnya sebelum diminum. Produk yang tampil beda lebih mudah menarik perhatiannya.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8016088" y="1463040"/>
            <a:ext cx="3626968" cy="2286000"/>
          </a:xfrm>
          <a:prstGeom prst="roundRect">
            <a:avLst>
              <a:gd name="adj" fmla="val 2800"/>
            </a:avLst>
          </a:prstGeom>
          <a:solidFill>
            <a:srgbClr val="F1F5F2"/>
          </a:solidFill>
          <a:ln w="12700">
            <a:solidFill>
              <a:srgbClr val="F1F5F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180680" y="1682496"/>
            <a:ext cx="100584" cy="100584"/>
          </a:xfrm>
          <a:prstGeom prst="rect">
            <a:avLst/>
          </a:prstGeom>
          <a:solidFill>
            <a:srgbClr val="C8A24A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363560" y="1591056"/>
            <a:ext cx="312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8180680" y="1965960"/>
            <a:ext cx="32977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Mencoba minuman yang unik</a:t>
            </a:r>
            <a:endParaRPr lang="en-US" sz="1400" dirty="0"/>
          </a:p>
          <a:p>
            <a:pPr marL="139700" indent="-1397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Konten ringan untuk media sosial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206240" y="3931920"/>
            <a:ext cx="3626968" cy="2286000"/>
          </a:xfrm>
          <a:prstGeom prst="roundRect">
            <a:avLst>
              <a:gd name="adj" fmla="val 2800"/>
            </a:avLst>
          </a:prstGeom>
          <a:solidFill>
            <a:srgbClr val="F1F5F2"/>
          </a:solidFill>
          <a:ln w="12700">
            <a:solidFill>
              <a:srgbClr val="F1F5F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370832" y="4151376"/>
            <a:ext cx="100584" cy="100584"/>
          </a:xfrm>
          <a:prstGeom prst="rect">
            <a:avLst/>
          </a:prstGeom>
          <a:solidFill>
            <a:srgbClr val="C8A24A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553712" y="4059936"/>
            <a:ext cx="312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Motivasi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4370832" y="4434840"/>
            <a:ext cx="32977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Kemasan yang estetik</a:t>
            </a:r>
            <a:endParaRPr lang="en-US" sz="1400" dirty="0"/>
          </a:p>
          <a:p>
            <a:pPr marL="139700" indent="-1397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yang punya cerita</a:t>
            </a:r>
            <a:endParaRPr lang="en-US" sz="1400" dirty="0"/>
          </a:p>
          <a:p>
            <a:pPr marL="139700" indent="-1397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Harga tetap ramah kantong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8016088" y="3931920"/>
            <a:ext cx="3626968" cy="2286000"/>
          </a:xfrm>
          <a:prstGeom prst="roundRect">
            <a:avLst>
              <a:gd name="adj" fmla="val 2800"/>
            </a:avLst>
          </a:prstGeom>
          <a:solidFill>
            <a:srgbClr val="F7EDE8"/>
          </a:solidFill>
          <a:ln w="12700">
            <a:solidFill>
              <a:srgbClr val="F7EDE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180680" y="4151376"/>
            <a:ext cx="100584" cy="100584"/>
          </a:xfrm>
          <a:prstGeom prst="rect">
            <a:avLst/>
          </a:prstGeom>
          <a:solidFill>
            <a:srgbClr val="A65A3A"/>
          </a:solidFill>
          <a:ln w="12700">
            <a:solidFill>
              <a:srgbClr val="A65A3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363560" y="4059936"/>
            <a:ext cx="312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Frustrasi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8180680" y="4434840"/>
            <a:ext cx="32977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 polos yang terlihat biasa saja</a:t>
            </a:r>
            <a:endParaRPr lang="en-US" sz="1400" dirty="0"/>
          </a:p>
          <a:p>
            <a:pPr marL="139700" indent="-1397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Minuman yang cantik biasanya mahal</a:t>
            </a:r>
            <a:endParaRPr lang="en-US" sz="1400" dirty="0"/>
          </a:p>
          <a:p>
            <a:pPr marL="139700" indent="-1397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pembeda dari brand lain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63550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E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Proto-persona: disusun dari masalah yang kami identifikasi, belum divalidasi survei.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Empathy Map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5097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Pelanggan utama: mahasiswa yang membeli minuman di event kampus</a:t>
            </a:r>
            <a:endParaRPr lang="en-US" sz="1300" dirty="0"/>
          </a:p>
        </p:txBody>
      </p:sp>
      <p:pic>
        <p:nvPicPr>
          <p:cNvPr id="4" name="Image 0" descr="/home/user/spill-de-tea/assets/em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127" y="347472"/>
            <a:ext cx="566928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63040"/>
            <a:ext cx="3576218" cy="2286000"/>
          </a:xfrm>
          <a:prstGeom prst="roundRect">
            <a:avLst>
              <a:gd name="adj" fmla="val 2800"/>
            </a:avLst>
          </a:prstGeom>
          <a:solidFill>
            <a:srgbClr val="F1F5F2"/>
          </a:solidFill>
          <a:ln w="12700">
            <a:solidFill>
              <a:srgbClr val="F1F5F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13232" y="1682496"/>
            <a:ext cx="100584" cy="100584"/>
          </a:xfrm>
          <a:prstGeom prst="rect">
            <a:avLst/>
          </a:prstGeom>
          <a:solidFill>
            <a:srgbClr val="C8A24A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96112" y="1591056"/>
            <a:ext cx="3073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&amp; Feel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13232" y="1965960"/>
            <a:ext cx="324703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Ingin minuman kekinian, tapi sayang uangnya</a:t>
            </a:r>
            <a:endParaRPr lang="en-US" sz="1500" dirty="0"/>
          </a:p>
          <a:p>
            <a:pPr marL="139700" indent="-1397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Waktu istirahat terlalu berharga untuk antre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307738" y="1463040"/>
            <a:ext cx="3576218" cy="2286000"/>
          </a:xfrm>
          <a:prstGeom prst="roundRect">
            <a:avLst>
              <a:gd name="adj" fmla="val 2800"/>
            </a:avLst>
          </a:prstGeom>
          <a:solidFill>
            <a:srgbClr val="F1F5F2"/>
          </a:solidFill>
          <a:ln w="12700">
            <a:solidFill>
              <a:srgbClr val="F1F5F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72330" y="1682496"/>
            <a:ext cx="100584" cy="100584"/>
          </a:xfrm>
          <a:prstGeom prst="rect">
            <a:avLst/>
          </a:prstGeom>
          <a:solidFill>
            <a:srgbClr val="C8A24A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655210" y="1591056"/>
            <a:ext cx="3073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4472330" y="1965960"/>
            <a:ext cx="324703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Antrean panjang di booth saat event</a:t>
            </a:r>
            <a:endParaRPr lang="en-US" sz="1500" dirty="0"/>
          </a:p>
          <a:p>
            <a:pPr marL="139700" indent="-1397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teh premium dengan harga Rp25.000 ke atas</a:t>
            </a:r>
            <a:endParaRPr lang="en-US" sz="1500" dirty="0"/>
          </a:p>
          <a:p>
            <a:pPr marL="139700" indent="-1397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Teman memposting minuman dengan cup estetik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8066837" y="1463040"/>
            <a:ext cx="3576218" cy="2286000"/>
          </a:xfrm>
          <a:prstGeom prst="roundRect">
            <a:avLst>
              <a:gd name="adj" fmla="val 2800"/>
            </a:avLst>
          </a:prstGeom>
          <a:solidFill>
            <a:srgbClr val="F1F5F2"/>
          </a:solidFill>
          <a:ln w="12700">
            <a:solidFill>
              <a:srgbClr val="F1F5F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231429" y="1682496"/>
            <a:ext cx="100584" cy="100584"/>
          </a:xfrm>
          <a:prstGeom prst="rect">
            <a:avLst/>
          </a:prstGeom>
          <a:solidFill>
            <a:srgbClr val="C8A24A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414309" y="1591056"/>
            <a:ext cx="3073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8231429" y="1965960"/>
            <a:ext cx="324703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Ajakan teman untuk beli bareng biar hemat</a:t>
            </a:r>
            <a:endParaRPr lang="en-US" sz="1500" dirty="0"/>
          </a:p>
          <a:p>
            <a:pPr marL="139700" indent="-1397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 event dan promo dari Instagram himpunan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48640" y="3931920"/>
            <a:ext cx="3576218" cy="2286000"/>
          </a:xfrm>
          <a:prstGeom prst="roundRect">
            <a:avLst>
              <a:gd name="adj" fmla="val 2800"/>
            </a:avLst>
          </a:prstGeom>
          <a:solidFill>
            <a:srgbClr val="F1F5F2"/>
          </a:solidFill>
          <a:ln w="12700">
            <a:solidFill>
              <a:srgbClr val="F1F5F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13232" y="4151376"/>
            <a:ext cx="100584" cy="100584"/>
          </a:xfrm>
          <a:prstGeom prst="rect">
            <a:avLst/>
          </a:prstGeom>
          <a:solidFill>
            <a:srgbClr val="C8A24A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96112" y="4059936"/>
            <a:ext cx="3073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&amp; Do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713232" y="4434840"/>
            <a:ext cx="324703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 minuman di sela jadwal kuliah</a:t>
            </a:r>
            <a:endParaRPr lang="en-US" sz="1500" dirty="0"/>
          </a:p>
          <a:p>
            <a:pPr marL="139700" indent="-1397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Patungan memesan bareng satu kelas</a:t>
            </a:r>
            <a:endParaRPr lang="en-US" sz="1500" dirty="0"/>
          </a:p>
          <a:p>
            <a:pPr marL="139700" indent="-1397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Memotret minuman sebelum diminum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4307738" y="3931920"/>
            <a:ext cx="3576218" cy="2286000"/>
          </a:xfrm>
          <a:prstGeom prst="roundRect">
            <a:avLst>
              <a:gd name="adj" fmla="val 2800"/>
            </a:avLst>
          </a:prstGeom>
          <a:solidFill>
            <a:srgbClr val="F7EDE8"/>
          </a:solidFill>
          <a:ln w="12700">
            <a:solidFill>
              <a:srgbClr val="F7EDE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472330" y="4151376"/>
            <a:ext cx="100584" cy="100584"/>
          </a:xfrm>
          <a:prstGeom prst="rect">
            <a:avLst/>
          </a:prstGeom>
          <a:solidFill>
            <a:srgbClr val="A65A3A"/>
          </a:solidFill>
          <a:ln w="12700">
            <a:solidFill>
              <a:srgbClr val="A65A3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655210" y="4059936"/>
            <a:ext cx="3073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4472330" y="4434840"/>
            <a:ext cx="324703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Antre lama</a:t>
            </a:r>
            <a:endParaRPr lang="en-US" sz="1500" dirty="0"/>
          </a:p>
          <a:p>
            <a:pPr marL="139700" indent="-1397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Harga berat untuk dibeli rutin</a:t>
            </a:r>
            <a:endParaRPr lang="en-US" sz="1500" dirty="0"/>
          </a:p>
          <a:p>
            <a:pPr marL="139700" indent="-1397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cair, rasa berubah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8066837" y="3931920"/>
            <a:ext cx="3576218" cy="2286000"/>
          </a:xfrm>
          <a:prstGeom prst="roundRect">
            <a:avLst>
              <a:gd name="adj" fmla="val 2800"/>
            </a:avLst>
          </a:prstGeom>
          <a:solidFill>
            <a:srgbClr val="EAF2F4"/>
          </a:solidFill>
          <a:ln w="12700">
            <a:solidFill>
              <a:srgbClr val="EAF2F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231429" y="4151376"/>
            <a:ext cx="100584" cy="100584"/>
          </a:xfrm>
          <a:prstGeom prst="rect">
            <a:avLst/>
          </a:prstGeom>
          <a:solidFill>
            <a:srgbClr val="2E6E7E"/>
          </a:solidFill>
          <a:ln w="12700">
            <a:solidFill>
              <a:srgbClr val="2E6E7E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414309" y="4059936"/>
            <a:ext cx="3073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8231429" y="4434840"/>
            <a:ext cx="324703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Minuman premium dengan harga mahasiswa</a:t>
            </a:r>
            <a:endParaRPr lang="en-US" sz="1500" dirty="0"/>
          </a:p>
          <a:p>
            <a:pPr marL="139700" indent="-1397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Tinggal ambil tanpa antre</a:t>
            </a:r>
            <a:endParaRPr lang="en-US" sz="1500" dirty="0"/>
          </a:p>
          <a:p>
            <a:pPr marL="139700" indent="-1397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 yang layak jadi konten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Spill de Tea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5097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Tiga racikan inti — semua 250 ml, botolan, fresh batch</a:t>
            </a:r>
            <a:endParaRPr lang="en-US" sz="1300" dirty="0"/>
          </a:p>
        </p:txBody>
      </p:sp>
      <p:pic>
        <p:nvPicPr>
          <p:cNvPr id="4" name="Image 0" descr="/home/user/spill-de-tea/assets/em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127" y="347472"/>
            <a:ext cx="566928" cy="56692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4630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2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Spill de Tea meracik milk tea dengan teh hitam dan melati yang diseduh pekat, gula aren cair asli, dan bean curd yang lembut — lalu menjualnya di harga yang masuk akal untuk dibeli rutin. Setiap botol dibuat pada H-1 sesuai pesanan yang sudah masuk, dijaga dingin sampai diambil, dan dikemas dalam cup bercetak penuh yang layak dipotret.</a:t>
            </a:r>
            <a:endParaRPr lang="en-US" sz="1450" dirty="0"/>
          </a:p>
        </p:txBody>
      </p:sp>
      <p:pic>
        <p:nvPicPr>
          <p:cNvPr id="6" name="Image 1" descr="/home/user/spill-de-tea/presentasi/img/menu-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0"/>
            <a:ext cx="3545738" cy="278695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5639878"/>
            <a:ext cx="2357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Aren Milk Tea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2905658" y="563987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9A7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Rp13.000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6033070"/>
            <a:ext cx="35457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Teh hitam pekat, susu creamy, gula aren asli.</a:t>
            </a:r>
            <a:endParaRPr lang="en-US" sz="1200" dirty="0"/>
          </a:p>
        </p:txBody>
      </p:sp>
      <p:pic>
        <p:nvPicPr>
          <p:cNvPr id="10" name="Image 2" descr="/home/user/spill-de-tea/presentasi/img/menu-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2978" y="2743200"/>
            <a:ext cx="3545738" cy="278695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322978" y="5639878"/>
            <a:ext cx="2357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Jasmine Bean Curd Latte</a:t>
            </a:r>
            <a:endParaRPr lang="en-US" sz="1700" dirty="0"/>
          </a:p>
        </p:txBody>
      </p:sp>
      <p:sp>
        <p:nvSpPr>
          <p:cNvPr id="12" name="Text 7"/>
          <p:cNvSpPr txBox="1"/>
          <p:nvPr/>
        </p:nvSpPr>
        <p:spPr>
          <a:xfrm>
            <a:off x="6679997" y="563987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9A7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Rp15.000</a:t>
            </a:r>
            <a:endParaRPr lang="en-US" sz="1700" dirty="0"/>
          </a:p>
        </p:txBody>
      </p:sp>
      <p:sp>
        <p:nvSpPr>
          <p:cNvPr id="13" name="Text 8"/>
          <p:cNvSpPr txBox="1"/>
          <p:nvPr/>
        </p:nvSpPr>
        <p:spPr>
          <a:xfrm>
            <a:off x="4322978" y="6033070"/>
            <a:ext cx="35457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Teh melati dan susu lembut, ditutup bean curd.</a:t>
            </a:r>
            <a:endParaRPr lang="en-US" sz="1200" dirty="0"/>
          </a:p>
        </p:txBody>
      </p:sp>
      <p:pic>
        <p:nvPicPr>
          <p:cNvPr id="14" name="Image 3" descr="/home/user/spill-de-tea/presentasi/img/menu-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7317" y="2743200"/>
            <a:ext cx="3545738" cy="278695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097317" y="5639878"/>
            <a:ext cx="2357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Matcha Cloud</a:t>
            </a:r>
            <a:endParaRPr lang="en-US" sz="1700" dirty="0"/>
          </a:p>
        </p:txBody>
      </p:sp>
      <p:sp>
        <p:nvSpPr>
          <p:cNvPr id="16" name="Text 10"/>
          <p:cNvSpPr txBox="1"/>
          <p:nvPr/>
        </p:nvSpPr>
        <p:spPr>
          <a:xfrm>
            <a:off x="10454335" y="563987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9A7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Rp15.000</a:t>
            </a:r>
            <a:endParaRPr lang="en-US" sz="1700" dirty="0"/>
          </a:p>
        </p:txBody>
      </p:sp>
      <p:sp>
        <p:nvSpPr>
          <p:cNvPr id="17" name="Text 11"/>
          <p:cNvSpPr txBox="1"/>
          <p:nvPr/>
        </p:nvSpPr>
        <p:spPr>
          <a:xfrm>
            <a:off x="8097317" y="6033070"/>
            <a:ext cx="35457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Matcha diseduh dingin dengan lapisan cream cloud.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SDGs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5097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Kontribusi kami: SDG 12 — Responsible Consumption and Production</a:t>
            </a:r>
            <a:endParaRPr lang="en-US" sz="1300" dirty="0"/>
          </a:p>
        </p:txBody>
      </p:sp>
      <p:pic>
        <p:nvPicPr>
          <p:cNvPr id="4" name="Image 0" descr="/home/user/spill-de-tea/assets/em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127" y="347472"/>
            <a:ext cx="566928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63040"/>
            <a:ext cx="3017520" cy="3017520"/>
          </a:xfrm>
          <a:prstGeom prst="rect">
            <a:avLst/>
          </a:prstGeom>
          <a:solidFill>
            <a:srgbClr val="BF8B2E"/>
          </a:solidFill>
          <a:ln w="12700">
            <a:solidFill>
              <a:srgbClr val="BF8B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64592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5400" dirty="0"/>
          </a:p>
        </p:txBody>
      </p:sp>
      <p:sp>
        <p:nvSpPr>
          <p:cNvPr id="7" name="Text 4"/>
          <p:cNvSpPr txBox="1"/>
          <p:nvPr/>
        </p:nvSpPr>
        <p:spPr>
          <a:xfrm>
            <a:off x="1874520" y="1700784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PRODUCTION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74320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endParaRPr lang="en-US" sz="8000" dirty="0"/>
          </a:p>
        </p:txBody>
      </p:sp>
      <p:sp>
        <p:nvSpPr>
          <p:cNvPr id="9" name="Text 6"/>
          <p:cNvSpPr txBox="1"/>
          <p:nvPr/>
        </p:nvSpPr>
        <p:spPr>
          <a:xfrm>
            <a:off x="3931920" y="14630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Kontribusi kami lahir langsung dari cara kami berproduksi, bukan dari klaim kemasan.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3931920" y="2377440"/>
            <a:ext cx="384048" cy="384048"/>
          </a:xfrm>
          <a:prstGeom prst="ellipse">
            <a:avLst/>
          </a:prstGeom>
          <a:solidFill>
            <a:srgbClr val="0B3B2E"/>
          </a:solidFill>
          <a:ln w="12700">
            <a:solidFill>
              <a:srgbClr val="0B3B2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93192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4526280" y="233172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Produksi sesuai pesanan pasti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4526280" y="2670048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dibuat pada H-1 dari jumlah pre-order yang sudah masuk, jadi tidak ada stok berlebih yang berakhir dibuang.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3931920" y="3401568"/>
            <a:ext cx="384048" cy="384048"/>
          </a:xfrm>
          <a:prstGeom prst="ellipse">
            <a:avLst/>
          </a:prstGeom>
          <a:solidFill>
            <a:srgbClr val="0B3B2E"/>
          </a:solidFill>
          <a:ln w="12700">
            <a:solidFill>
              <a:srgbClr val="0B3B2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931920" y="3401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4526280" y="3355848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Belanja bahan seperlunya</a:t>
            </a:r>
            <a:endParaRPr lang="en-US" sz="1450" dirty="0"/>
          </a:p>
        </p:txBody>
      </p:sp>
      <p:sp>
        <p:nvSpPr>
          <p:cNvPr id="17" name="Text 14"/>
          <p:cNvSpPr txBox="1"/>
          <p:nvPr/>
        </p:nvSpPr>
        <p:spPr>
          <a:xfrm>
            <a:off x="4526280" y="3694176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Bahan baku dibeli grosir per batch sesuai kebutuhan, bukan ditimbun.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3931920" y="4425696"/>
            <a:ext cx="384048" cy="384048"/>
          </a:xfrm>
          <a:prstGeom prst="ellipse">
            <a:avLst/>
          </a:prstGeom>
          <a:solidFill>
            <a:srgbClr val="0B3B2E"/>
          </a:solidFill>
          <a:ln w="12700">
            <a:solidFill>
              <a:srgbClr val="0B3B2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931920" y="4425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4526280" y="4379976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diukur, bukan diasumsikan</a:t>
            </a:r>
            <a:endParaRPr lang="en-US" sz="1450" dirty="0"/>
          </a:p>
        </p:txBody>
      </p:sp>
      <p:sp>
        <p:nvSpPr>
          <p:cNvPr id="21" name="Text 18"/>
          <p:cNvSpPr txBox="1"/>
          <p:nvPr/>
        </p:nvSpPr>
        <p:spPr>
          <a:xfrm>
            <a:off x="4526280" y="4718304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botol terbuang ≤ 2% per event, dicatat setiap event dan dipakai memperbaiki batch berikutnya.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48640" y="5440680"/>
            <a:ext cx="11094415" cy="822960"/>
          </a:xfrm>
          <a:prstGeom prst="roundRect">
            <a:avLst>
              <a:gd name="adj" fmla="val 6667"/>
            </a:avLst>
          </a:prstGeom>
          <a:solidFill>
            <a:srgbClr val="F1F5F2"/>
          </a:solidFill>
          <a:ln w="12700">
            <a:solidFill>
              <a:srgbClr val="F1F5F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22960" y="5559552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berikutnya: </a:t>
            </a:r>
            <a:pPr indent="0" marL="0">
              <a:buNone/>
            </a:pPr>
            <a:r>
              <a:rPr lang="en-US" sz="1250" dirty="0">
                <a:solidFill>
                  <a:srgbClr val="2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botol dan cup saat ini masih kemasan sekali pakai. Program tukar botol atau kemasan yang bisa didaur ulang adalah perbaikan yang sedang kami pertimbangkan.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 Proposition Canvas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5097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Sisi kiri yang kami tawarkan, sisi kanan yang pelanggan butuhkan</a:t>
            </a:r>
            <a:endParaRPr lang="en-US" sz="1300" dirty="0"/>
          </a:p>
        </p:txBody>
      </p:sp>
      <p:pic>
        <p:nvPicPr>
          <p:cNvPr id="4" name="Image 0" descr="/home/user/spill-de-tea/assets/em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127" y="347472"/>
            <a:ext cx="566928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17320"/>
            <a:ext cx="4892040" cy="4892040"/>
          </a:xfrm>
          <a:prstGeom prst="rect">
            <a:avLst/>
          </a:prstGeom>
          <a:solidFill>
            <a:srgbClr val="F1F5F2"/>
          </a:solidFill>
          <a:ln w="19050">
            <a:solidFill>
              <a:srgbClr val="0B3B2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514600" y="1417320"/>
            <a:ext cx="0" cy="4892040"/>
          </a:xfrm>
          <a:prstGeom prst="line">
            <a:avLst/>
          </a:prstGeom>
          <a:noFill/>
          <a:ln w="15875">
            <a:solidFill>
              <a:srgbClr val="0B3B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514600" y="3863340"/>
            <a:ext cx="2926080" cy="0"/>
          </a:xfrm>
          <a:prstGeom prst="line">
            <a:avLst/>
          </a:prstGeom>
          <a:noFill/>
          <a:ln w="15875">
            <a:solidFill>
              <a:srgbClr val="0B3B2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152704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&amp; Services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1856232"/>
            <a:ext cx="169164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 Milk Tea</a:t>
            </a:r>
            <a:endParaRPr lang="en-US" sz="13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Jasmine Bean Curd Latte</a:t>
            </a:r>
            <a:endParaRPr lang="en-US" sz="13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Matcha Cloud</a:t>
            </a:r>
            <a:endParaRPr lang="en-US" sz="13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Pre-order lewat form</a:t>
            </a:r>
            <a:endParaRPr lang="en-US" sz="13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Jalur pickup khusus</a:t>
            </a:r>
            <a:endParaRPr lang="en-US" sz="13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Paket 5 &amp; 10 botol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2651760" y="1527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Creators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2651760" y="1856232"/>
            <a:ext cx="2651760" cy="1897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Gula aren asli &amp; bean curd</a:t>
            </a:r>
            <a:endParaRPr lang="en-US" sz="13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 bercetak penuh</a:t>
            </a:r>
            <a:endParaRPr lang="en-US" sz="13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Bundling hemat untuk kelompok</a:t>
            </a:r>
            <a:endParaRPr lang="en-US" sz="13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Konfirmasi personal via WhatsApp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2651760" y="39730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6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Relievers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2651760" y="4302252"/>
            <a:ext cx="2651760" cy="1897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 tanpa antre walk-in</a:t>
            </a:r>
            <a:endParaRPr lang="en-US" sz="13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Rp13.000–15.000 per botol</a:t>
            </a:r>
            <a:endParaRPr lang="en-US" sz="13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Produksi H-1, dijaga dingin</a:t>
            </a:r>
            <a:endParaRPr lang="en-US" sz="13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Pesanan pasti tersedia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739128" y="1412748"/>
            <a:ext cx="4901184" cy="4901184"/>
          </a:xfrm>
          <a:prstGeom prst="ellipse">
            <a:avLst/>
          </a:prstGeom>
          <a:solidFill>
            <a:srgbClr val="F1F5F2"/>
          </a:solidFill>
          <a:ln w="19050">
            <a:solidFill>
              <a:srgbClr val="0B3B2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 flipV="1">
            <a:off x="9189720" y="1741065"/>
            <a:ext cx="1225296" cy="2122275"/>
          </a:xfrm>
          <a:prstGeom prst="line">
            <a:avLst/>
          </a:prstGeom>
          <a:noFill/>
          <a:ln w="15875">
            <a:solidFill>
              <a:srgbClr val="0B3B2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189720" y="3863340"/>
            <a:ext cx="1225296" cy="2122275"/>
          </a:xfrm>
          <a:prstGeom prst="line">
            <a:avLst/>
          </a:prstGeom>
          <a:noFill/>
          <a:ln w="15875">
            <a:solidFill>
              <a:srgbClr val="0B3B2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739128" y="3863340"/>
            <a:ext cx="2450592" cy="0"/>
          </a:xfrm>
          <a:prstGeom prst="line">
            <a:avLst/>
          </a:prstGeom>
          <a:noFill/>
          <a:ln w="15875">
            <a:solidFill>
              <a:srgbClr val="0B3B2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452360" y="209854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Gains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7452360" y="2427732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Harga ramah kantong</a:t>
            </a:r>
            <a:endParaRPr lang="en-US" sz="13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Rasa premium</a:t>
            </a:r>
            <a:endParaRPr lang="en-US" sz="13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Cepat didapat</a:t>
            </a:r>
            <a:endParaRPr lang="en-US" sz="13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Kemasan layak konten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7452360" y="408279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6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Pains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7452360" y="441198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Antre lama di booth</a:t>
            </a:r>
            <a:endParaRPr lang="en-US" sz="13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Harga Rp25.000+</a:t>
            </a:r>
            <a:endParaRPr lang="en-US" sz="13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cair, rasa berubah</a:t>
            </a:r>
            <a:endParaRPr lang="en-US" sz="13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Stok habis saat event</a:t>
            </a:r>
            <a:endParaRPr lang="en-US" sz="1350" dirty="0"/>
          </a:p>
        </p:txBody>
      </p:sp>
      <p:sp>
        <p:nvSpPr>
          <p:cNvPr id="22" name="Text 19"/>
          <p:cNvSpPr txBox="1"/>
          <p:nvPr/>
        </p:nvSpPr>
        <p:spPr>
          <a:xfrm>
            <a:off x="9738360" y="310438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Jobs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9738360" y="3433572"/>
            <a:ext cx="1508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 minum di sela kuliah</a:t>
            </a:r>
            <a:endParaRPr lang="en-US" sz="13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 untuk satu kelompok</a:t>
            </a:r>
            <a:endParaRPr lang="en-US" sz="13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Punya minuman untuk difoto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5550408" y="3863340"/>
            <a:ext cx="1078992" cy="0"/>
          </a:xfrm>
          <a:prstGeom prst="line">
            <a:avLst/>
          </a:prstGeom>
          <a:noFill/>
          <a:ln w="31750">
            <a:solidFill>
              <a:srgbClr val="9A7A2C"/>
            </a:solidFill>
            <a:prstDash val="solid"/>
            <a:headEnd type="triangle"/>
            <a:tailEnd type="triangle"/>
          </a:ln>
        </p:spPr>
      </p:sp>
      <p:sp>
        <p:nvSpPr>
          <p:cNvPr id="25" name="Text 22"/>
          <p:cNvSpPr txBox="1"/>
          <p:nvPr/>
        </p:nvSpPr>
        <p:spPr>
          <a:xfrm>
            <a:off x="5440680" y="3479292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7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Segmentation · Targeting · Positioning</a:t>
            </a:r>
            <a:endParaRPr lang="en-US" sz="3000" dirty="0"/>
          </a:p>
        </p:txBody>
      </p:sp>
      <p:pic>
        <p:nvPicPr>
          <p:cNvPr id="3" name="Image 0" descr="/home/user/spill-de-tea/assets/em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127" y="347472"/>
            <a:ext cx="566928" cy="56692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1417320"/>
            <a:ext cx="2743200" cy="2240280"/>
          </a:xfrm>
          <a:prstGeom prst="roundRect">
            <a:avLst>
              <a:gd name="adj" fmla="val 2857"/>
            </a:avLst>
          </a:prstGeom>
          <a:solidFill>
            <a:srgbClr val="F1F5F2"/>
          </a:solidFill>
          <a:ln w="12700">
            <a:solidFill>
              <a:srgbClr val="F1F5F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13232" y="1636776"/>
            <a:ext cx="100584" cy="100584"/>
          </a:xfrm>
          <a:prstGeom prst="rect">
            <a:avLst/>
          </a:prstGeom>
          <a:solidFill>
            <a:srgbClr val="C8A24A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96112" y="154533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Demografis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13232" y="1920240"/>
            <a:ext cx="241401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18–24 tahun</a:t>
            </a:r>
            <a:endParaRPr lang="en-US" sz="1200" dirty="0"/>
          </a:p>
          <a:p>
            <a:pPr marL="139700" indent="-1397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Mahasiswa, pria &amp; wanita</a:t>
            </a:r>
            <a:endParaRPr lang="en-US" sz="1200" dirty="0"/>
          </a:p>
          <a:p>
            <a:pPr marL="139700" indent="-1397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Uang saku terbatas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474720" y="1417320"/>
            <a:ext cx="2743200" cy="2240280"/>
          </a:xfrm>
          <a:prstGeom prst="roundRect">
            <a:avLst>
              <a:gd name="adj" fmla="val 2857"/>
            </a:avLst>
          </a:prstGeom>
          <a:solidFill>
            <a:srgbClr val="F1F5F2"/>
          </a:solidFill>
          <a:ln w="12700">
            <a:solidFill>
              <a:srgbClr val="F1F5F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39312" y="1636776"/>
            <a:ext cx="100584" cy="100584"/>
          </a:xfrm>
          <a:prstGeom prst="rect">
            <a:avLst/>
          </a:prstGeom>
          <a:solidFill>
            <a:srgbClr val="C8A24A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822192" y="154533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Geografis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3639312" y="1920240"/>
            <a:ext cx="241401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Kampus Binus &amp; sekitarnya</a:t>
            </a:r>
            <a:endParaRPr lang="en-US" sz="1200" dirty="0"/>
          </a:p>
          <a:p>
            <a:pPr marL="139700" indent="-1397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 event kampus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3840480"/>
            <a:ext cx="2743200" cy="2240280"/>
          </a:xfrm>
          <a:prstGeom prst="roundRect">
            <a:avLst>
              <a:gd name="adj" fmla="val 2857"/>
            </a:avLst>
          </a:prstGeom>
          <a:solidFill>
            <a:srgbClr val="F1F5F2"/>
          </a:solidFill>
          <a:ln w="12700">
            <a:solidFill>
              <a:srgbClr val="F1F5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13232" y="4059936"/>
            <a:ext cx="100584" cy="100584"/>
          </a:xfrm>
          <a:prstGeom prst="rect">
            <a:avLst/>
          </a:prstGeom>
          <a:solidFill>
            <a:srgbClr val="C8A24A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96112" y="396849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Psikografis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713232" y="4343400"/>
            <a:ext cx="241401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Suka minuman kekinian</a:t>
            </a:r>
            <a:endParaRPr lang="en-US" sz="1200" dirty="0"/>
          </a:p>
          <a:p>
            <a:pPr marL="139700" indent="-1397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Aktif di media sosial</a:t>
            </a:r>
            <a:endParaRPr lang="en-US" sz="1200" dirty="0"/>
          </a:p>
          <a:p>
            <a:pPr marL="139700" indent="-1397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 tampil beda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474720" y="3840480"/>
            <a:ext cx="2743200" cy="2240280"/>
          </a:xfrm>
          <a:prstGeom prst="roundRect">
            <a:avLst>
              <a:gd name="adj" fmla="val 2857"/>
            </a:avLst>
          </a:prstGeom>
          <a:solidFill>
            <a:srgbClr val="F1F5F2"/>
          </a:solidFill>
          <a:ln w="12700">
            <a:solidFill>
              <a:srgbClr val="F1F5F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639312" y="4059936"/>
            <a:ext cx="100584" cy="100584"/>
          </a:xfrm>
          <a:prstGeom prst="rect">
            <a:avLst/>
          </a:prstGeom>
          <a:solidFill>
            <a:srgbClr val="C8A24A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822192" y="396849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3639312" y="4343400"/>
            <a:ext cx="241401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 minum saat event</a:t>
            </a:r>
            <a:endParaRPr lang="en-US" sz="1200" dirty="0"/>
          </a:p>
          <a:p>
            <a:pPr marL="139700" indent="-1397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 berkelompok</a:t>
            </a:r>
            <a:endParaRPr lang="en-US" sz="1200" dirty="0"/>
          </a:p>
          <a:p>
            <a:pPr marL="139700" indent="-1397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Sensitif harga &amp; waktu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1722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5E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446520" y="1417320"/>
            <a:ext cx="5193792" cy="2103120"/>
          </a:xfrm>
          <a:prstGeom prst="roundRect">
            <a:avLst>
              <a:gd name="adj" fmla="val 3043"/>
            </a:avLst>
          </a:prstGeom>
          <a:solidFill>
            <a:srgbClr val="F1F5F2"/>
          </a:solidFill>
          <a:ln w="12700">
            <a:solidFill>
              <a:srgbClr val="F1F5F2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611112" y="1636776"/>
            <a:ext cx="100584" cy="100584"/>
          </a:xfrm>
          <a:prstGeom prst="rect">
            <a:avLst/>
          </a:prstGeom>
          <a:solidFill>
            <a:srgbClr val="C8A24A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793992" y="1545336"/>
            <a:ext cx="4690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Targeting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6611112" y="1920240"/>
            <a:ext cx="48646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Utama: mahasiswa Binus &amp; pengunjung event kampus</a:t>
            </a:r>
            <a:endParaRPr lang="en-US" sz="1250" dirty="0"/>
          </a:p>
          <a:p>
            <a:pPr marL="139700" indent="-1397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Kedua: panitia &amp; himpunan yang memesan kolektif</a:t>
            </a:r>
            <a:endParaRPr lang="en-US" sz="1250" dirty="0"/>
          </a:p>
          <a:p>
            <a:pPr marL="139700" indent="-1397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Berikutnya: event kampus lain, lalu pre-order mingguan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6446520" y="3703320"/>
            <a:ext cx="5193792" cy="2377440"/>
          </a:xfrm>
          <a:prstGeom prst="roundRect">
            <a:avLst>
              <a:gd name="adj" fmla="val 2692"/>
            </a:avLst>
          </a:prstGeom>
          <a:solidFill>
            <a:srgbClr val="0B3B2E"/>
          </a:solidFill>
          <a:ln w="12700">
            <a:solidFill>
              <a:srgbClr val="0B3B2E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720840" y="3840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6720840" y="4206240"/>
            <a:ext cx="4663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i="1" dirty="0">
                <a:solidFill>
                  <a:srgbClr val="F6F1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Untuk mahasiswa yang ingin minuman kekinian berasa premium tanpa antre dan tanpa mahal, Spill de Tea adalah milk tea botolan pre-order yang dibuat segar per batch dan diambil di jalur khusus — dengan harga sekitar setengah brand teh premium.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Brand Positioning Map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5097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Harga per cup terhadap kesan brand</a:t>
            </a:r>
            <a:endParaRPr lang="en-US" sz="1300" dirty="0"/>
          </a:p>
        </p:txBody>
      </p:sp>
      <p:pic>
        <p:nvPicPr>
          <p:cNvPr id="4" name="Image 0" descr="/home/user/spill-de-tea/assets/em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127" y="347472"/>
            <a:ext cx="566928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463040" y="1463040"/>
            <a:ext cx="8778240" cy="4572000"/>
          </a:xfrm>
          <a:prstGeom prst="rect">
            <a:avLst/>
          </a:prstGeom>
          <a:solidFill>
            <a:srgbClr val="FAF8F3"/>
          </a:solidFill>
          <a:ln w="12700">
            <a:solidFill>
              <a:srgbClr val="D9D2C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560320" y="1463040"/>
            <a:ext cx="0" cy="4572000"/>
          </a:xfrm>
          <a:prstGeom prst="line">
            <a:avLst/>
          </a:prstGeom>
          <a:noFill/>
          <a:ln w="6350">
            <a:solidFill>
              <a:srgbClr val="ECE6D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0" y="1463040"/>
            <a:ext cx="0" cy="4572000"/>
          </a:xfrm>
          <a:prstGeom prst="line">
            <a:avLst/>
          </a:prstGeom>
          <a:noFill/>
          <a:ln w="6350">
            <a:solidFill>
              <a:srgbClr val="ECE6D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754880" y="1463040"/>
            <a:ext cx="0" cy="4572000"/>
          </a:xfrm>
          <a:prstGeom prst="line">
            <a:avLst/>
          </a:prstGeom>
          <a:noFill/>
          <a:ln w="6350">
            <a:solidFill>
              <a:srgbClr val="ECE6D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852160" y="1463040"/>
            <a:ext cx="0" cy="4572000"/>
          </a:xfrm>
          <a:prstGeom prst="line">
            <a:avLst/>
          </a:prstGeom>
          <a:noFill/>
          <a:ln w="6350">
            <a:solidFill>
              <a:srgbClr val="ECE6D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949440" y="1463040"/>
            <a:ext cx="0" cy="4572000"/>
          </a:xfrm>
          <a:prstGeom prst="line">
            <a:avLst/>
          </a:prstGeom>
          <a:noFill/>
          <a:ln w="6350">
            <a:solidFill>
              <a:srgbClr val="ECE6D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046720" y="1463040"/>
            <a:ext cx="0" cy="4572000"/>
          </a:xfrm>
          <a:prstGeom prst="line">
            <a:avLst/>
          </a:prstGeom>
          <a:noFill/>
          <a:ln w="6350">
            <a:solidFill>
              <a:srgbClr val="ECE6D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144000" y="1463040"/>
            <a:ext cx="0" cy="4572000"/>
          </a:xfrm>
          <a:prstGeom prst="line">
            <a:avLst/>
          </a:prstGeom>
          <a:noFill/>
          <a:ln w="6350">
            <a:solidFill>
              <a:srgbClr val="ECE6D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463040" y="2377440"/>
            <a:ext cx="8778240" cy="0"/>
          </a:xfrm>
          <a:prstGeom prst="line">
            <a:avLst/>
          </a:prstGeom>
          <a:noFill/>
          <a:ln w="6350">
            <a:solidFill>
              <a:srgbClr val="ECE6D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463040" y="3291840"/>
            <a:ext cx="8778240" cy="0"/>
          </a:xfrm>
          <a:prstGeom prst="line">
            <a:avLst/>
          </a:prstGeom>
          <a:noFill/>
          <a:ln w="6350">
            <a:solidFill>
              <a:srgbClr val="ECE6D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463040" y="4206240"/>
            <a:ext cx="8778240" cy="0"/>
          </a:xfrm>
          <a:prstGeom prst="line">
            <a:avLst/>
          </a:prstGeom>
          <a:noFill/>
          <a:ln w="6350">
            <a:solidFill>
              <a:srgbClr val="ECE6D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463040" y="5120640"/>
            <a:ext cx="8778240" cy="0"/>
          </a:xfrm>
          <a:prstGeom prst="line">
            <a:avLst/>
          </a:prstGeom>
          <a:noFill/>
          <a:ln w="6350">
            <a:solidFill>
              <a:srgbClr val="ECE6D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463040" y="3749040"/>
            <a:ext cx="8778240" cy="0"/>
          </a:xfrm>
          <a:prstGeom prst="line">
            <a:avLst/>
          </a:prstGeom>
          <a:noFill/>
          <a:ln w="19050">
            <a:solidFill>
              <a:srgbClr val="10221A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5852160" y="1463040"/>
            <a:ext cx="0" cy="4572000"/>
          </a:xfrm>
          <a:prstGeom prst="line">
            <a:avLst/>
          </a:prstGeom>
          <a:noFill/>
          <a:ln w="19050">
            <a:solidFill>
              <a:srgbClr val="10221A"/>
            </a:solidFill>
            <a:prstDash val="solid"/>
            <a:headEnd type="triangle"/>
          </a:ln>
        </p:spPr>
      </p:sp>
      <p:sp>
        <p:nvSpPr>
          <p:cNvPr id="19" name="Text 16"/>
          <p:cNvSpPr txBox="1"/>
          <p:nvPr/>
        </p:nvSpPr>
        <p:spPr>
          <a:xfrm>
            <a:off x="4937760" y="11704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4937760" y="60807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Kasual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502920" y="3611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Terjangkau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10314432" y="3611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Mahal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8911742" y="2002536"/>
            <a:ext cx="201168" cy="201168"/>
          </a:xfrm>
          <a:prstGeom prst="ellipse">
            <a:avLst/>
          </a:prstGeom>
          <a:solidFill>
            <a:srgbClr val="8E9A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158630" y="195681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Chagee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7682789" y="3191256"/>
            <a:ext cx="201168" cy="201168"/>
          </a:xfrm>
          <a:prstGeom prst="ellipse">
            <a:avLst/>
          </a:prstGeom>
          <a:solidFill>
            <a:srgbClr val="8E9A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929677" y="314553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Chatime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6453835" y="3877056"/>
            <a:ext cx="201168" cy="201168"/>
          </a:xfrm>
          <a:prstGeom prst="ellipse">
            <a:avLst/>
          </a:prstGeom>
          <a:solidFill>
            <a:srgbClr val="8E9A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700723" y="383133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Kopi Kenangan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3820363" y="4928616"/>
            <a:ext cx="201168" cy="201168"/>
          </a:xfrm>
          <a:prstGeom prst="ellipse">
            <a:avLst/>
          </a:prstGeom>
          <a:solidFill>
            <a:srgbClr val="8E9A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067251" y="488289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Haus!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2415845" y="5385816"/>
            <a:ext cx="201168" cy="201168"/>
          </a:xfrm>
          <a:prstGeom prst="ellipse">
            <a:avLst/>
          </a:prstGeom>
          <a:solidFill>
            <a:srgbClr val="8E9A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2662733" y="534009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Mixue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3130906" y="1847088"/>
            <a:ext cx="877824" cy="877824"/>
          </a:xfrm>
          <a:prstGeom prst="ellipse">
            <a:avLst/>
          </a:prstGeom>
          <a:solidFill>
            <a:srgbClr val="F6F1E7"/>
          </a:solidFill>
          <a:ln w="25400">
            <a:solidFill>
              <a:srgbClr val="C8A24A"/>
            </a:solidFill>
            <a:prstDash val="solid"/>
          </a:ln>
        </p:spPr>
      </p:sp>
      <p:pic>
        <p:nvPicPr>
          <p:cNvPr id="34" name="Image 1" descr="/home/user/spill-de-tea/assets/emble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4058" y="1920240"/>
            <a:ext cx="731520" cy="731520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4100170" y="2103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Spill de Tea</a:t>
            </a:r>
            <a:endParaRPr lang="en-US" sz="1700" dirty="0"/>
          </a:p>
        </p:txBody>
      </p:sp>
      <p:sp>
        <p:nvSpPr>
          <p:cNvPr id="36" name="Text 32"/>
          <p:cNvSpPr txBox="1"/>
          <p:nvPr/>
        </p:nvSpPr>
        <p:spPr>
          <a:xfrm>
            <a:off x="1463040" y="6291072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E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Kuadran kosong yang kami isi: kesan premium di harga terjangkau.</a:t>
            </a:r>
            <a:endParaRPr lang="en-US" sz="1150" dirty="0"/>
          </a:p>
        </p:txBody>
      </p:sp>
      <p:sp>
        <p:nvSpPr>
          <p:cNvPr id="37" name="Text 33"/>
          <p:cNvSpPr txBox="1"/>
          <p:nvPr/>
        </p:nvSpPr>
        <p:spPr>
          <a:xfrm>
            <a:off x="6583680" y="574243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E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Posisi berdasarkan penilaian tim, belum survei.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Us — Mind Map</a:t>
            </a:r>
            <a:endParaRPr lang="en-US" sz="3000" dirty="0"/>
          </a:p>
        </p:txBody>
      </p:sp>
      <p:pic>
        <p:nvPicPr>
          <p:cNvPr id="3" name="Image 0" descr="/home/user/spill-de-tea/assets/em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127" y="347472"/>
            <a:ext cx="566928" cy="56692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129888" y="2606040"/>
            <a:ext cx="1965960" cy="1325880"/>
          </a:xfrm>
          <a:prstGeom prst="line">
            <a:avLst/>
          </a:prstGeom>
          <a:noFill/>
          <a:ln w="31750">
            <a:solidFill>
              <a:srgbClr val="0B3B2E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306928" y="2313432"/>
            <a:ext cx="1645920" cy="585216"/>
          </a:xfrm>
          <a:prstGeom prst="roundRect">
            <a:avLst>
              <a:gd name="adj" fmla="val 46875"/>
            </a:avLst>
          </a:prstGeom>
          <a:solidFill>
            <a:srgbClr val="0B3B2E"/>
          </a:solidFill>
          <a:ln w="12700">
            <a:solidFill>
              <a:srgbClr val="0B3B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306928" y="2313432"/>
            <a:ext cx="1645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103120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139700" indent="-1397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 Milk Tea</a:t>
            </a:r>
            <a:endParaRPr lang="en-US" sz="1300" dirty="0"/>
          </a:p>
          <a:p>
            <a:pPr algn="l" marL="139700" indent="-1397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Jasmine Bean Curd Latte</a:t>
            </a:r>
            <a:endParaRPr lang="en-US" sz="1300" dirty="0"/>
          </a:p>
          <a:p>
            <a:pPr algn="l" marL="139700" indent="-1397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Matcha Cloud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 flipV="1">
            <a:off x="6095848" y="2606040"/>
            <a:ext cx="1965960" cy="1325880"/>
          </a:xfrm>
          <a:prstGeom prst="line">
            <a:avLst/>
          </a:prstGeom>
          <a:noFill/>
          <a:ln w="31750">
            <a:solidFill>
              <a:srgbClr val="2E6E7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238848" y="2313432"/>
            <a:ext cx="1645920" cy="585216"/>
          </a:xfrm>
          <a:prstGeom prst="roundRect">
            <a:avLst>
              <a:gd name="adj" fmla="val 46875"/>
            </a:avLst>
          </a:prstGeom>
          <a:solidFill>
            <a:srgbClr val="2E6E7E"/>
          </a:solidFill>
          <a:ln w="12700">
            <a:solidFill>
              <a:srgbClr val="2E6E7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238848" y="2313432"/>
            <a:ext cx="1645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9037015" y="2103120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139700" indent="-1397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Pre-order via form</a:t>
            </a:r>
            <a:endParaRPr lang="en-US" sz="1300" dirty="0"/>
          </a:p>
          <a:p>
            <a:pPr algn="l" marL="139700" indent="-1397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Produksi batch H-1</a:t>
            </a:r>
            <a:endParaRPr lang="en-US" sz="1300" dirty="0"/>
          </a:p>
          <a:p>
            <a:pPr algn="l" marL="139700" indent="-1397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 jalur khusus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 flipV="1">
            <a:off x="4129888" y="3931920"/>
            <a:ext cx="1965960" cy="1325880"/>
          </a:xfrm>
          <a:prstGeom prst="line">
            <a:avLst/>
          </a:prstGeom>
          <a:noFill/>
          <a:ln w="31750">
            <a:solidFill>
              <a:srgbClr val="9A7A2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306928" y="4965192"/>
            <a:ext cx="1645920" cy="585216"/>
          </a:xfrm>
          <a:prstGeom prst="roundRect">
            <a:avLst>
              <a:gd name="adj" fmla="val 46875"/>
            </a:avLst>
          </a:prstGeom>
          <a:solidFill>
            <a:srgbClr val="9A7A2C"/>
          </a:solidFill>
          <a:ln w="12700">
            <a:solidFill>
              <a:srgbClr val="9A7A2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306928" y="4965192"/>
            <a:ext cx="1645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4754880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139700" indent="-1397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Mahasiswa Binus</a:t>
            </a:r>
            <a:endParaRPr lang="en-US" sz="1300" dirty="0"/>
          </a:p>
          <a:p>
            <a:pPr algn="l" marL="139700" indent="-1397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Panitia &amp; himpunan</a:t>
            </a:r>
            <a:endParaRPr lang="en-US" sz="1300" dirty="0"/>
          </a:p>
          <a:p>
            <a:pPr algn="l" marL="139700" indent="-1397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Pengunjung event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095848" y="3931920"/>
            <a:ext cx="1965960" cy="1325880"/>
          </a:xfrm>
          <a:prstGeom prst="line">
            <a:avLst/>
          </a:prstGeom>
          <a:noFill/>
          <a:ln w="31750">
            <a:solidFill>
              <a:srgbClr val="A65A3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238848" y="4965192"/>
            <a:ext cx="1645920" cy="585216"/>
          </a:xfrm>
          <a:prstGeom prst="roundRect">
            <a:avLst>
              <a:gd name="adj" fmla="val 46875"/>
            </a:avLst>
          </a:prstGeom>
          <a:solidFill>
            <a:srgbClr val="A65A3A"/>
          </a:solidFill>
          <a:ln w="12700">
            <a:solidFill>
              <a:srgbClr val="A65A3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238848" y="4965192"/>
            <a:ext cx="1645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9037015" y="4754880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139700" indent="-1397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 bercetak penuh</a:t>
            </a:r>
            <a:endParaRPr lang="en-US" sz="1300" dirty="0"/>
          </a:p>
          <a:p>
            <a:pPr algn="l" marL="139700" indent="-1397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Emblem penjaga teh</a:t>
            </a:r>
            <a:endParaRPr lang="en-US" sz="1300" dirty="0"/>
          </a:p>
          <a:p>
            <a:pPr algn="l" marL="139700" indent="-1397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&amp; Instagram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227168" y="3063240"/>
            <a:ext cx="1737360" cy="1737360"/>
          </a:xfrm>
          <a:prstGeom prst="ellipse">
            <a:avLst/>
          </a:prstGeom>
          <a:solidFill>
            <a:srgbClr val="F6F1E7"/>
          </a:solidFill>
          <a:ln w="25400">
            <a:solidFill>
              <a:srgbClr val="C8A24A"/>
            </a:solidFill>
            <a:prstDash val="solid"/>
          </a:ln>
        </p:spPr>
      </p:sp>
      <p:pic>
        <p:nvPicPr>
          <p:cNvPr id="21" name="Image 1" descr="/home/user/spill-de-tea/assets/emble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6896" y="3172968"/>
            <a:ext cx="1517904" cy="151790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 Digital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5097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pre-order dan desain cup — sudah live</a:t>
            </a:r>
            <a:endParaRPr lang="en-US" sz="1300" dirty="0"/>
          </a:p>
        </p:txBody>
      </p:sp>
      <p:pic>
        <p:nvPicPr>
          <p:cNvPr id="4" name="Image 0" descr="/home/user/spill-de-tea/assets/em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127" y="347472"/>
            <a:ext cx="566928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63040"/>
            <a:ext cx="7315200" cy="4572000"/>
          </a:xfrm>
          <a:prstGeom prst="rect">
            <a:avLst/>
          </a:prstGeom>
          <a:solidFill>
            <a:srgbClr val="0B3B2E"/>
          </a:solidFill>
          <a:ln w="12700">
            <a:solidFill>
              <a:srgbClr val="D9D2C1"/>
            </a:solidFill>
            <a:prstDash val="solid"/>
          </a:ln>
        </p:spPr>
      </p:sp>
      <p:pic>
        <p:nvPicPr>
          <p:cNvPr id="6" name="Image 1" descr="/home/user/spill-de-tea/presentasi/img/site-her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7315200" cy="4572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183880" y="1463040"/>
            <a:ext cx="3456432" cy="4572000"/>
          </a:xfrm>
          <a:prstGeom prst="rect">
            <a:avLst/>
          </a:prstGeom>
          <a:solidFill>
            <a:srgbClr val="0B3B2E"/>
          </a:solidFill>
          <a:ln w="12700">
            <a:solidFill>
              <a:srgbClr val="0B3B2E"/>
            </a:solidFill>
            <a:prstDash val="solid"/>
          </a:ln>
        </p:spPr>
      </p:sp>
      <p:pic>
        <p:nvPicPr>
          <p:cNvPr id="8" name="Image 2" descr="/home/user/spill-de-tea/presentasi/img/cup3d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83880" y="1463040"/>
            <a:ext cx="3456432" cy="457200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548640" y="614476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Website: </a:t>
            </a:r>
            <a:pPr indent="0" marL="0">
              <a:buNone/>
            </a:pPr>
            <a:r>
              <a:rPr lang="en-US" sz="1200" dirty="0">
                <a:solidFill>
                  <a:srgbClr val="2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beixuantianjun.github.io/spill-de-tea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Isi: cup 3D interaktif, menu, alur pre-order, dan form pre-order Jotform yang sudah menerima pesanan.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Model Canvas</a:t>
            </a:r>
            <a:endParaRPr lang="en-US" sz="3000" dirty="0"/>
          </a:p>
        </p:txBody>
      </p:sp>
      <p:pic>
        <p:nvPicPr>
          <p:cNvPr id="3" name="Image 0" descr="/home/user/spill-de-tea/assets/em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127" y="347472"/>
            <a:ext cx="566928" cy="56692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1188720"/>
            <a:ext cx="2131101" cy="3657600"/>
          </a:xfrm>
          <a:prstGeom prst="roundRect">
            <a:avLst>
              <a:gd name="adj" fmla="val 2574"/>
            </a:avLst>
          </a:prstGeom>
          <a:solidFill>
            <a:srgbClr val="F1F5F2"/>
          </a:solidFill>
          <a:ln w="12700">
            <a:solidFill>
              <a:srgbClr val="F1F5F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76656" y="1344168"/>
            <a:ext cx="91440" cy="91440"/>
          </a:xfrm>
          <a:prstGeom prst="rect">
            <a:avLst/>
          </a:prstGeom>
          <a:solidFill>
            <a:srgbClr val="C8A24A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41248" y="1271016"/>
            <a:ext cx="17287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Partners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1572768"/>
            <a:ext cx="1856781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grosir teh, susu bubuk &amp; gula aren</a:t>
            </a:r>
            <a:endParaRPr lang="en-US" sz="100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Pemasok bahan bean curd</a:t>
            </a:r>
            <a:endParaRPr lang="en-US" sz="100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botol, label &amp; sealer</a:t>
            </a:r>
            <a:endParaRPr lang="en-US" sz="100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Panitia / EO event &amp; himpunan</a:t>
            </a:r>
            <a:endParaRPr lang="en-US" sz="100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Pembayaran QRIS</a:t>
            </a:r>
            <a:endParaRPr lang="en-US" sz="100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Jotform — form pre-order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789469" y="1188720"/>
            <a:ext cx="2131101" cy="1773936"/>
          </a:xfrm>
          <a:prstGeom prst="roundRect">
            <a:avLst>
              <a:gd name="adj" fmla="val 3093"/>
            </a:avLst>
          </a:prstGeom>
          <a:solidFill>
            <a:srgbClr val="F1F5F2"/>
          </a:solidFill>
          <a:ln w="12700">
            <a:solidFill>
              <a:srgbClr val="F1F5F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917485" y="1344168"/>
            <a:ext cx="91440" cy="91440"/>
          </a:xfrm>
          <a:prstGeom prst="rect">
            <a:avLst/>
          </a:prstGeom>
          <a:solidFill>
            <a:srgbClr val="C8A24A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082077" y="1271016"/>
            <a:ext cx="17287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Activities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2899197" y="1572768"/>
            <a:ext cx="1856781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Rekap pre-order &amp; rencana batch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Produksi batch H-1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rasa, suhu &amp; kemasan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Operasi booth pickup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Konten &amp; evaluasi event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89469" y="3072384"/>
            <a:ext cx="2131101" cy="1773936"/>
          </a:xfrm>
          <a:prstGeom prst="roundRect">
            <a:avLst>
              <a:gd name="adj" fmla="val 3093"/>
            </a:avLst>
          </a:prstGeom>
          <a:solidFill>
            <a:srgbClr val="F1F5F2"/>
          </a:solidFill>
          <a:ln w="12700">
            <a:solidFill>
              <a:srgbClr val="F1F5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917485" y="3227832"/>
            <a:ext cx="91440" cy="91440"/>
          </a:xfrm>
          <a:prstGeom prst="rect">
            <a:avLst/>
          </a:prstGeom>
          <a:solidFill>
            <a:srgbClr val="C8A24A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082077" y="3154680"/>
            <a:ext cx="17287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Resources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2899197" y="3456432"/>
            <a:ext cx="1856781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Resep &amp; SOP batch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Alat produksi &amp; cooler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 mahasiswa TI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Brand: emblem, cup, website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030297" y="1188720"/>
            <a:ext cx="2131101" cy="3657600"/>
          </a:xfrm>
          <a:prstGeom prst="roundRect">
            <a:avLst>
              <a:gd name="adj" fmla="val 2574"/>
            </a:avLst>
          </a:prstGeom>
          <a:solidFill>
            <a:srgbClr val="0B3B2E"/>
          </a:solidFill>
          <a:ln w="12700">
            <a:solidFill>
              <a:srgbClr val="0B3B2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158313" y="1344168"/>
            <a:ext cx="91440" cy="91440"/>
          </a:xfrm>
          <a:prstGeom prst="rect">
            <a:avLst/>
          </a:prstGeom>
          <a:solidFill>
            <a:srgbClr val="C8A24A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322905" y="1271016"/>
            <a:ext cx="17287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140025" y="1572768"/>
            <a:ext cx="1856781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6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Rasa premium harga mahasiswa: Rp13.000–15.000 vs Rp25.000–38.000</a:t>
            </a:r>
            <a:endParaRPr lang="en-US" sz="10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6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antre lewat jalur pickup khusus</a:t>
            </a:r>
            <a:endParaRPr lang="en-US" sz="10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6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Selalu fresh: produksi H-1</a:t>
            </a:r>
            <a:endParaRPr lang="en-US" sz="10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6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Gula aren asli &amp; bean curd</a:t>
            </a:r>
            <a:endParaRPr lang="en-US" sz="10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6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 bercetak penuh</a:t>
            </a:r>
            <a:endParaRPr lang="en-US" sz="10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6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waste — produksi sesuai pesanan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271126" y="1188720"/>
            <a:ext cx="2131101" cy="1773936"/>
          </a:xfrm>
          <a:prstGeom prst="roundRect">
            <a:avLst>
              <a:gd name="adj" fmla="val 3093"/>
            </a:avLst>
          </a:prstGeom>
          <a:solidFill>
            <a:srgbClr val="F1F5F2"/>
          </a:solidFill>
          <a:ln w="12700">
            <a:solidFill>
              <a:srgbClr val="F1F5F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399142" y="1344168"/>
            <a:ext cx="91440" cy="91440"/>
          </a:xfrm>
          <a:prstGeom prst="rect">
            <a:avLst/>
          </a:prstGeom>
          <a:solidFill>
            <a:srgbClr val="C8A24A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563734" y="1271016"/>
            <a:ext cx="17287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Relationships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7380854" y="1572768"/>
            <a:ext cx="1856781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Komunitas Instagram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Paket 5 botol hemat Rp5.000, 10 botol gratis 1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Konfirmasi via WhatsApp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Kode order pickup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7271126" y="3072384"/>
            <a:ext cx="2131101" cy="1773936"/>
          </a:xfrm>
          <a:prstGeom prst="roundRect">
            <a:avLst>
              <a:gd name="adj" fmla="val 3093"/>
            </a:avLst>
          </a:prstGeom>
          <a:solidFill>
            <a:srgbClr val="F1F5F2"/>
          </a:solidFill>
          <a:ln w="12700">
            <a:solidFill>
              <a:srgbClr val="F1F5F2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399142" y="3227832"/>
            <a:ext cx="91440" cy="91440"/>
          </a:xfrm>
          <a:prstGeom prst="rect">
            <a:avLst/>
          </a:prstGeom>
          <a:solidFill>
            <a:srgbClr val="C8A24A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563734" y="3154680"/>
            <a:ext cx="17287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7380854" y="3456432"/>
            <a:ext cx="1856781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+ form Jotform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&amp; TikTok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Booth pickup di event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9511955" y="1188720"/>
            <a:ext cx="2131101" cy="3657600"/>
          </a:xfrm>
          <a:prstGeom prst="roundRect">
            <a:avLst>
              <a:gd name="adj" fmla="val 2574"/>
            </a:avLst>
          </a:prstGeom>
          <a:solidFill>
            <a:srgbClr val="F1F5F2"/>
          </a:solidFill>
          <a:ln w="12700">
            <a:solidFill>
              <a:srgbClr val="F1F5F2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9639971" y="1344168"/>
            <a:ext cx="91440" cy="91440"/>
          </a:xfrm>
          <a:prstGeom prst="rect">
            <a:avLst/>
          </a:prstGeom>
          <a:solidFill>
            <a:srgbClr val="C8A24A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804563" y="1271016"/>
            <a:ext cx="17287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Segments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9621683" y="1572768"/>
            <a:ext cx="1856781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Mahasiswa Binus</a:t>
            </a:r>
            <a:endParaRPr lang="en-US" sz="100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Pengunjung event kampus</a:t>
            </a:r>
            <a:endParaRPr lang="en-US" sz="100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Panitia &amp; himpunan</a:t>
            </a:r>
            <a:endParaRPr lang="en-US" sz="100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kampus lain (fase 2)</a:t>
            </a:r>
            <a:endParaRPr lang="en-US" sz="100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Pre-order mingguan (fase 3)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48640" y="4956048"/>
            <a:ext cx="5492344" cy="1536192"/>
          </a:xfrm>
          <a:prstGeom prst="roundRect">
            <a:avLst>
              <a:gd name="adj" fmla="val 3571"/>
            </a:avLst>
          </a:prstGeom>
          <a:solidFill>
            <a:srgbClr val="F1F5F2"/>
          </a:solidFill>
          <a:ln w="12700">
            <a:solidFill>
              <a:srgbClr val="F1F5F2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76656" y="5111496"/>
            <a:ext cx="91440" cy="91440"/>
          </a:xfrm>
          <a:prstGeom prst="rect">
            <a:avLst/>
          </a:prstGeom>
          <a:solidFill>
            <a:srgbClr val="C8A24A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41248" y="5038344"/>
            <a:ext cx="5090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Structure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658368" y="5340096"/>
            <a:ext cx="521802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Bahan baku ± Rp2.600/botol</a:t>
            </a:r>
            <a:endParaRPr lang="en-US" sz="100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Kemasan Rp1.500/botol → HPP ± Rp4.100</a:t>
            </a:r>
            <a:endParaRPr lang="en-US" sz="100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Promosi skala kecil · biaya booth bila ada</a:t>
            </a:r>
            <a:endParaRPr lang="en-US" sz="100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sewa toko &amp; pegawai harian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6150712" y="4956048"/>
            <a:ext cx="5492344" cy="1536192"/>
          </a:xfrm>
          <a:prstGeom prst="roundRect">
            <a:avLst>
              <a:gd name="adj" fmla="val 3571"/>
            </a:avLst>
          </a:prstGeom>
          <a:solidFill>
            <a:srgbClr val="F1F5F2"/>
          </a:solidFill>
          <a:ln w="12700">
            <a:solidFill>
              <a:srgbClr val="F1F5F2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278728" y="5111496"/>
            <a:ext cx="91440" cy="91440"/>
          </a:xfrm>
          <a:prstGeom prst="rect">
            <a:avLst/>
          </a:prstGeom>
          <a:solidFill>
            <a:srgbClr val="C8A24A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443320" y="5038344"/>
            <a:ext cx="5090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Streams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6260440" y="5340096"/>
            <a:ext cx="521802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 Rp13.000 · Jasmine Bean Curd &amp; Matcha Cloud Rp15.000</a:t>
            </a:r>
            <a:endParaRPr lang="en-US" sz="100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Paket bundling 5 &amp; 10 botol</a:t>
            </a:r>
            <a:endParaRPr lang="en-US" sz="100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pre-order — kas masuk sebelum produksi</a:t>
            </a:r>
            <a:endParaRPr lang="en-US" sz="100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kotor ± 68% per botol (Aren)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Streams &amp; Cost Structure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5097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Simulasi laba kotor per fase, dari harga dan HPP di pitch deck</a:t>
            </a:r>
            <a:endParaRPr lang="en-US" sz="1300" dirty="0"/>
          </a:p>
        </p:txBody>
      </p:sp>
      <p:pic>
        <p:nvPicPr>
          <p:cNvPr id="4" name="Image 0" descr="/home/user/spill-de-tea/assets/em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127" y="347472"/>
            <a:ext cx="566928" cy="566928"/>
          </a:xfrm>
          <a:prstGeom prst="rect">
            <a:avLst/>
          </a:prstGeom>
        </p:spPr>
      </p:pic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690372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1005840"/>
                <a:gridCol w="1280160"/>
                <a:gridCol w="1188720"/>
                <a:gridCol w="12801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Pendapatan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HPP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Laba kotor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2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022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 — Binus Festival
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022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022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sekali event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022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Rp6.500.000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A65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Rp2.050.000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0B3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Rp4.450.000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022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Fase 2 — multi-event kampus
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022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022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bulan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022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Rp26.000.000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A65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Rp8.200.000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0B3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Rp17.800.000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022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Fase 3 — pre-order reguler
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022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022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bulan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022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Rp78.000.000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A65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Rp24.600.000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0B3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Rp53.400.000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886200"/>
          <a:ext cx="40233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HPP per botol (Aren)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Biaya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2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2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Teh bubuk premium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022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Rp800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2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Susu bubuk / creamer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022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Rp700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2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Gula aren cair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022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2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Topping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022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Rp600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2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Botol + label + sealer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022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Rp1.500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22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HPP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B3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Rp4.100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2"/>
          <p:cNvSpPr/>
          <p:nvPr/>
        </p:nvSpPr>
        <p:spPr>
          <a:xfrm>
            <a:off x="4754880" y="3886200"/>
            <a:ext cx="2697480" cy="1920240"/>
          </a:xfrm>
          <a:prstGeom prst="roundRect">
            <a:avLst>
              <a:gd name="adj" fmla="val 3333"/>
            </a:avLst>
          </a:prstGeom>
          <a:solidFill>
            <a:srgbClr val="0B3B2E"/>
          </a:solidFill>
          <a:ln w="12700">
            <a:solidFill>
              <a:srgbClr val="0B3B2E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4983480" y="40690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68%</a:t>
            </a:r>
            <a:endParaRPr lang="en-US" sz="4000" dirty="0"/>
          </a:p>
        </p:txBody>
      </p:sp>
      <p:sp>
        <p:nvSpPr>
          <p:cNvPr id="9" name="Text 4"/>
          <p:cNvSpPr txBox="1"/>
          <p:nvPr/>
        </p:nvSpPr>
        <p:spPr>
          <a:xfrm>
            <a:off x="4983480" y="48463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4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kotor per botol Aren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E4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(Rp8.900 dari Rp13.000)</a:t>
            </a:r>
            <a:endParaRPr lang="en-US" sz="115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7726680" y="1371600"/>
          <a:ext cx="39319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5"/>
          <p:cNvSpPr txBox="1"/>
          <p:nvPr/>
        </p:nvSpPr>
        <p:spPr>
          <a:xfrm>
            <a:off x="548640" y="60350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E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Dihitung dengan harga dan HPP Aren. Biaya tetap (promosi, booth) belum dikurangi, dan HPP menu Rp15.000 belum dihitung — angka ini laba kotor, bukan laba bersih.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7373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8A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240280"/>
            <a:ext cx="5852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6F1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Pesan Spill de Tea</a:t>
            </a:r>
            <a:endParaRPr lang="en-US" sz="4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6F1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untuk event</a:t>
            </a:r>
            <a:endParaRPr lang="en-US" sz="4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6F1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berikutnya.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766560" y="23317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766560" y="26517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beixuantianjun.github.io/spill-de-tea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766560" y="3200400"/>
            <a:ext cx="4846320" cy="0"/>
          </a:xfrm>
          <a:prstGeom prst="line">
            <a:avLst/>
          </a:prstGeom>
          <a:noFill/>
          <a:ln w="12700">
            <a:solidFill>
              <a:srgbClr val="2E5A4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766560" y="35661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PRE-ORDER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766560" y="38862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form.jotform.com/262514421222040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766560" y="4434840"/>
            <a:ext cx="4846320" cy="0"/>
          </a:xfrm>
          <a:prstGeom prst="line">
            <a:avLst/>
          </a:prstGeom>
          <a:noFill/>
          <a:ln w="12700">
            <a:solidFill>
              <a:srgbClr val="2E5A4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45775" y="5257800"/>
            <a:ext cx="1097280" cy="1097280"/>
          </a:xfrm>
          <a:prstGeom prst="ellipse">
            <a:avLst/>
          </a:prstGeom>
          <a:solidFill>
            <a:srgbClr val="F6F1E7"/>
          </a:solidFill>
          <a:ln w="15875">
            <a:solidFill>
              <a:srgbClr val="C8A24A"/>
            </a:solidFill>
            <a:prstDash val="solid"/>
          </a:ln>
        </p:spPr>
      </p:sp>
      <p:pic>
        <p:nvPicPr>
          <p:cNvPr id="11" name="Image 0" descr="/home/user/spill-de-tea/assets/em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18927" y="5330952"/>
            <a:ext cx="950976" cy="9509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Spill de Tea — Creativity &amp; Innovation</dc:title>
  <dc:subject>PptxGenJS Presentation</dc:subject>
  <dc:creator>PptxGenJS</dc:creator>
  <cp:lastModifiedBy>PptxGenJS</cp:lastModifiedBy>
  <cp:revision>1</cp:revision>
  <dcterms:created xsi:type="dcterms:W3CDTF">2026-10-20T13:44:12Z</dcterms:created>
  <dcterms:modified xsi:type="dcterms:W3CDTF">2026-10-20T13:44:12Z</dcterms:modified>
</cp:coreProperties>
</file>